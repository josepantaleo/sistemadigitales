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90" r:id="rId6"/>
    <p:sldId id="291" r:id="rId7"/>
    <p:sldId id="292" r:id="rId8"/>
    <p:sldId id="293" r:id="rId9"/>
    <p:sldId id="294" r:id="rId10"/>
    <p:sldId id="295" r:id="rId11"/>
    <p:sldId id="260" r:id="rId12"/>
    <p:sldId id="261" r:id="rId13"/>
    <p:sldId id="270" r:id="rId14"/>
    <p:sldId id="271" r:id="rId15"/>
    <p:sldId id="272" r:id="rId16"/>
    <p:sldId id="273" r:id="rId17"/>
    <p:sldId id="275" r:id="rId18"/>
    <p:sldId id="276" r:id="rId19"/>
    <p:sldId id="277" r:id="rId20"/>
    <p:sldId id="279" r:id="rId21"/>
    <p:sldId id="280" r:id="rId22"/>
    <p:sldId id="281" r:id="rId23"/>
    <p:sldId id="282" r:id="rId24"/>
    <p:sldId id="283" r:id="rId25"/>
    <p:sldId id="286" r:id="rId26"/>
    <p:sldId id="288" r:id="rId27"/>
    <p:sldId id="289" r:id="rId28"/>
    <p:sldId id="296" r:id="rId29"/>
    <p:sldId id="297" r:id="rId30"/>
    <p:sldId id="298" r:id="rId31"/>
    <p:sldId id="300" r:id="rId32"/>
    <p:sldId id="301" r:id="rId33"/>
    <p:sldId id="302" r:id="rId34"/>
    <p:sldId id="303" r:id="rId35"/>
    <p:sldId id="304" r:id="rId36"/>
    <p:sldId id="307" r:id="rId37"/>
    <p:sldId id="308" r:id="rId38"/>
    <p:sldId id="313" r:id="rId39"/>
    <p:sldId id="314" r:id="rId40"/>
    <p:sldId id="315" r:id="rId41"/>
    <p:sldId id="316" r:id="rId42"/>
    <p:sldId id="317" r:id="rId43"/>
    <p:sldId id="318" r:id="rId44"/>
    <p:sldId id="319" r:id="rId45"/>
    <p:sldId id="320" r:id="rId46"/>
    <p:sldId id="321" r:id="rId47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139" autoAdjust="0"/>
  </p:normalViewPr>
  <p:slideViewPr>
    <p:cSldViewPr>
      <p:cViewPr>
        <p:scale>
          <a:sx n="125" d="100"/>
          <a:sy n="125" d="100"/>
        </p:scale>
        <p:origin x="-1224" y="4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1A355-E709-4A72-8865-441AC430DBDD}" type="datetimeFigureOut">
              <a:rPr lang="es-AR" smtClean="0"/>
              <a:t>3/11/2025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41C4-47FD-4BBB-85F2-178919395D8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381959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1A355-E709-4A72-8865-441AC430DBDD}" type="datetimeFigureOut">
              <a:rPr lang="es-AR" smtClean="0"/>
              <a:t>3/11/2025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41C4-47FD-4BBB-85F2-178919395D8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40105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1A355-E709-4A72-8865-441AC430DBDD}" type="datetimeFigureOut">
              <a:rPr lang="es-AR" smtClean="0"/>
              <a:t>3/11/2025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41C4-47FD-4BBB-85F2-178919395D8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3911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1A355-E709-4A72-8865-441AC430DBDD}" type="datetimeFigureOut">
              <a:rPr lang="es-AR" smtClean="0"/>
              <a:t>3/11/2025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41C4-47FD-4BBB-85F2-178919395D8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093507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1A355-E709-4A72-8865-441AC430DBDD}" type="datetimeFigureOut">
              <a:rPr lang="es-AR" smtClean="0"/>
              <a:t>3/11/2025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41C4-47FD-4BBB-85F2-178919395D8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24146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1A355-E709-4A72-8865-441AC430DBDD}" type="datetimeFigureOut">
              <a:rPr lang="es-AR" smtClean="0"/>
              <a:t>3/11/2025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41C4-47FD-4BBB-85F2-178919395D8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252203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1A355-E709-4A72-8865-441AC430DBDD}" type="datetimeFigureOut">
              <a:rPr lang="es-AR" smtClean="0"/>
              <a:t>3/11/2025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41C4-47FD-4BBB-85F2-178919395D8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48903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1A355-E709-4A72-8865-441AC430DBDD}" type="datetimeFigureOut">
              <a:rPr lang="es-AR" smtClean="0"/>
              <a:t>3/11/2025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41C4-47FD-4BBB-85F2-178919395D8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019740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1A355-E709-4A72-8865-441AC430DBDD}" type="datetimeFigureOut">
              <a:rPr lang="es-AR" smtClean="0"/>
              <a:t>3/11/2025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41C4-47FD-4BBB-85F2-178919395D8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809463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1A355-E709-4A72-8865-441AC430DBDD}" type="datetimeFigureOut">
              <a:rPr lang="es-AR" smtClean="0"/>
              <a:t>3/11/2025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41C4-47FD-4BBB-85F2-178919395D8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722970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1A355-E709-4A72-8865-441AC430DBDD}" type="datetimeFigureOut">
              <a:rPr lang="es-AR" smtClean="0"/>
              <a:t>3/11/2025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41C4-47FD-4BBB-85F2-178919395D8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734858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F1A355-E709-4A72-8865-441AC430DBDD}" type="datetimeFigureOut">
              <a:rPr lang="es-AR" smtClean="0"/>
              <a:t>3/11/2025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441C4-47FD-4BBB-85F2-178919395D8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78931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Sistemas Digitales</a:t>
            </a:r>
            <a:endParaRPr lang="es-AR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smtClean="0"/>
              <a:t>Redes Informáticas </a:t>
            </a:r>
          </a:p>
          <a:p>
            <a:r>
              <a:rPr lang="es-ES" dirty="0" smtClean="0"/>
              <a:t>Resumen </a:t>
            </a:r>
            <a:r>
              <a:rPr lang="es-ES" dirty="0" smtClean="0"/>
              <a:t>2025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235860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Concepto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El concepto de </a:t>
            </a:r>
            <a:r>
              <a:rPr lang="es-ES" b="1" dirty="0" smtClean="0"/>
              <a:t>red informática</a:t>
            </a:r>
            <a:r>
              <a:rPr lang="es-ES" dirty="0" smtClean="0"/>
              <a:t> se refiere a un conjunto de dispositivos interconectados que pueden comunicarse entre sí para compartir recursos y datos. Esto incluye computadoras, servidores, impresoras, y otros dispositivos como teléfonos y cámaras. Las redes informáticas permiten la transferencia de información y el uso compartido de recursos, facilitando la colaboración y la comunicación.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935577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b="1" dirty="0" smtClean="0"/>
              <a:t>Elementos Clave del Concepto: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ES" b="1" dirty="0" smtClean="0"/>
              <a:t>Interconexión</a:t>
            </a:r>
            <a:r>
              <a:rPr lang="es-ES" dirty="0" smtClean="0"/>
              <a:t>: Los dispositivos están conectados mediante cables o de forma inalámbrica, lo que permite la comunicación entre ellos.</a:t>
            </a:r>
          </a:p>
          <a:p>
            <a:r>
              <a:rPr lang="es-ES" b="1" dirty="0" smtClean="0"/>
              <a:t>Protocolo</a:t>
            </a:r>
            <a:r>
              <a:rPr lang="es-ES" dirty="0" smtClean="0"/>
              <a:t>: Un conjunto de reglas que define cómo se transmiten los datos. El TCP/IP es uno de los más utilizados.</a:t>
            </a:r>
          </a:p>
          <a:p>
            <a:r>
              <a:rPr lang="es-ES" b="1" dirty="0" smtClean="0"/>
              <a:t>Recursos Compartidos</a:t>
            </a:r>
            <a:r>
              <a:rPr lang="es-ES" dirty="0" smtClean="0"/>
              <a:t>: Las redes permiten el acceso a archivos, aplicaciones y dispositivos (como impresoras) desde diferentes ubicaciones.</a:t>
            </a:r>
          </a:p>
          <a:p>
            <a:r>
              <a:rPr lang="es-ES" b="1" dirty="0" smtClean="0"/>
              <a:t>Escalabilidad</a:t>
            </a:r>
            <a:r>
              <a:rPr lang="es-ES" dirty="0" smtClean="0"/>
              <a:t>: Las redes pueden crecer fácilmente al agregar más dispositivos.</a:t>
            </a:r>
          </a:p>
          <a:p>
            <a:r>
              <a:rPr lang="es-ES" b="1" dirty="0" smtClean="0"/>
              <a:t>Seguridad</a:t>
            </a:r>
            <a:r>
              <a:rPr lang="es-ES" dirty="0" smtClean="0"/>
              <a:t>: Es crucial proteger los datos y los dispositivos de accesos no autorizados, utilizando métodos como firewalls y cifrado.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946950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Tipos de Redes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b="1" dirty="0" smtClean="0"/>
              <a:t>PAN (Personal </a:t>
            </a:r>
            <a:r>
              <a:rPr lang="es-ES" b="1" dirty="0" err="1" smtClean="0"/>
              <a:t>Area</a:t>
            </a:r>
            <a:r>
              <a:rPr lang="es-ES" b="1" dirty="0" smtClean="0"/>
              <a:t> Network):</a:t>
            </a:r>
            <a:r>
              <a:rPr lang="es-ES" dirty="0" smtClean="0"/>
              <a:t>son un tipo de red diseñada para la comunicación entre dispositivos personales cercanos, normalmente dentro de un rango de unos pocos metros.</a:t>
            </a:r>
            <a:endParaRPr lang="es-AR" b="1" dirty="0" smtClean="0"/>
          </a:p>
          <a:p>
            <a:r>
              <a:rPr lang="es-AR" b="1" dirty="0" smtClean="0"/>
              <a:t>LAN (Local </a:t>
            </a:r>
            <a:r>
              <a:rPr lang="es-AR" b="1" dirty="0" err="1" smtClean="0"/>
              <a:t>Area</a:t>
            </a:r>
            <a:r>
              <a:rPr lang="es-AR" b="1" dirty="0" smtClean="0"/>
              <a:t> Network)</a:t>
            </a:r>
            <a:r>
              <a:rPr lang="es-AR" dirty="0" smtClean="0"/>
              <a:t>: Redes de área local, típicamente en un solo edificio o campus.</a:t>
            </a:r>
          </a:p>
          <a:p>
            <a:r>
              <a:rPr lang="es-AR" b="1" dirty="0" smtClean="0"/>
              <a:t>WAN (Wide </a:t>
            </a:r>
            <a:r>
              <a:rPr lang="es-AR" b="1" dirty="0" err="1" smtClean="0"/>
              <a:t>Area</a:t>
            </a:r>
            <a:r>
              <a:rPr lang="es-AR" b="1" dirty="0" smtClean="0"/>
              <a:t> Network)</a:t>
            </a:r>
            <a:r>
              <a:rPr lang="es-AR" dirty="0" smtClean="0"/>
              <a:t>: Redes de área amplia, que pueden cubrir grandes distancias, como ciudades o países.</a:t>
            </a:r>
          </a:p>
          <a:p>
            <a:r>
              <a:rPr lang="es-AR" b="1" dirty="0" smtClean="0"/>
              <a:t>MAN (</a:t>
            </a:r>
            <a:r>
              <a:rPr lang="es-AR" b="1" dirty="0" err="1" smtClean="0"/>
              <a:t>Metropolitan</a:t>
            </a:r>
            <a:r>
              <a:rPr lang="es-AR" b="1" dirty="0" smtClean="0"/>
              <a:t> </a:t>
            </a:r>
            <a:r>
              <a:rPr lang="es-AR" b="1" dirty="0" err="1" smtClean="0"/>
              <a:t>Area</a:t>
            </a:r>
            <a:r>
              <a:rPr lang="es-AR" b="1" dirty="0" smtClean="0"/>
              <a:t> Network)</a:t>
            </a:r>
            <a:r>
              <a:rPr lang="es-AR" dirty="0" smtClean="0"/>
              <a:t>: Redes que abarcan áreas metropolitanas.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620402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Topología de Red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La </a:t>
            </a:r>
            <a:r>
              <a:rPr lang="es-ES" b="1" dirty="0" smtClean="0"/>
              <a:t>topología de red</a:t>
            </a:r>
            <a:r>
              <a:rPr lang="es-ES" dirty="0" smtClean="0"/>
              <a:t> se refiere a la disposición física o lógica de los dispositivos en una red. Existen varias topologías, cada una con sus características, ventajas y desventajas.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644451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b="1" dirty="0" smtClean="0"/>
              <a:t>Topología en Estrella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b="1" dirty="0" smtClean="0"/>
              <a:t>Descripción</a:t>
            </a:r>
            <a:r>
              <a:rPr lang="es-ES" dirty="0" smtClean="0"/>
              <a:t>: Todos los dispositivos están conectados a un dispositivo central, como un </a:t>
            </a:r>
            <a:r>
              <a:rPr lang="es-ES" dirty="0" err="1" smtClean="0"/>
              <a:t>switch</a:t>
            </a:r>
            <a:r>
              <a:rPr lang="es-ES" dirty="0" smtClean="0"/>
              <a:t> o un </a:t>
            </a:r>
            <a:r>
              <a:rPr lang="es-ES" dirty="0" err="1" smtClean="0"/>
              <a:t>hub</a:t>
            </a:r>
            <a:r>
              <a:rPr lang="es-ES" dirty="0" smtClean="0"/>
              <a:t>.</a:t>
            </a:r>
          </a:p>
          <a:p>
            <a:r>
              <a:rPr lang="es-ES" b="1" dirty="0" smtClean="0"/>
              <a:t>Ventajas</a:t>
            </a:r>
            <a:r>
              <a:rPr lang="es-ES" dirty="0" smtClean="0"/>
              <a:t>:</a:t>
            </a:r>
          </a:p>
          <a:p>
            <a:pPr lvl="1"/>
            <a:r>
              <a:rPr lang="es-ES" dirty="0" smtClean="0"/>
              <a:t>Fácil de instalar y gestionar.</a:t>
            </a:r>
          </a:p>
          <a:p>
            <a:pPr lvl="1"/>
            <a:r>
              <a:rPr lang="es-ES" dirty="0" smtClean="0"/>
              <a:t>Si un cable falla, solo afecta a un dispositivo.</a:t>
            </a:r>
          </a:p>
          <a:p>
            <a:r>
              <a:rPr lang="es-ES" b="1" dirty="0" smtClean="0"/>
              <a:t>Desventajas</a:t>
            </a:r>
            <a:r>
              <a:rPr lang="es-ES" dirty="0" smtClean="0"/>
              <a:t>:</a:t>
            </a:r>
          </a:p>
          <a:p>
            <a:pPr lvl="1"/>
            <a:r>
              <a:rPr lang="es-ES" dirty="0" smtClean="0"/>
              <a:t>Si el dispositivo central falla, toda la red se cae.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213776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 smtClean="0"/>
              <a:t>Topología en Bus</a:t>
            </a:r>
            <a:br>
              <a:rPr lang="es-ES" b="1" dirty="0" smtClean="0"/>
            </a:b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b="1" dirty="0" smtClean="0"/>
              <a:t>Descripción</a:t>
            </a:r>
            <a:r>
              <a:rPr lang="es-ES" dirty="0" smtClean="0"/>
              <a:t>: Todos los dispositivos están conectados a un solo cable central (bus).</a:t>
            </a:r>
          </a:p>
          <a:p>
            <a:r>
              <a:rPr lang="es-ES" b="1" smtClean="0"/>
              <a:t>Ventajas</a:t>
            </a:r>
            <a:r>
              <a:rPr lang="es-ES" smtClean="0"/>
              <a:t>:</a:t>
            </a:r>
          </a:p>
          <a:p>
            <a:pPr lvl="1"/>
            <a:r>
              <a:rPr lang="es-ES" smtClean="0"/>
              <a:t>Fácil de instalar y económica para redes pequeñas.</a:t>
            </a:r>
          </a:p>
          <a:p>
            <a:r>
              <a:rPr lang="es-ES" b="1" smtClean="0"/>
              <a:t>Desventajas</a:t>
            </a:r>
            <a:r>
              <a:rPr lang="es-ES" smtClean="0"/>
              <a:t>:</a:t>
            </a:r>
          </a:p>
          <a:p>
            <a:pPr lvl="1"/>
            <a:r>
              <a:rPr lang="es-ES" smtClean="0"/>
              <a:t>Si el cable central falla, toda la red se interrumpe.</a:t>
            </a:r>
          </a:p>
          <a:p>
            <a:pPr lvl="1"/>
            <a:r>
              <a:rPr lang="es-ES" smtClean="0"/>
              <a:t>El rendimiento disminuye a medida que se añaden más dispositivos.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42890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 smtClean="0"/>
              <a:t>Topología en Anillo</a:t>
            </a:r>
            <a:br>
              <a:rPr lang="es-ES" b="1" dirty="0" smtClean="0"/>
            </a:b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 smtClean="0"/>
              <a:t>Descripción</a:t>
            </a:r>
            <a:r>
              <a:rPr lang="es-ES" dirty="0" smtClean="0"/>
              <a:t>: Cada dispositivo está conectado a otros dos, formando un anillo.</a:t>
            </a:r>
          </a:p>
          <a:p>
            <a:r>
              <a:rPr lang="es-ES" b="1" smtClean="0"/>
              <a:t>Ventajas</a:t>
            </a:r>
            <a:r>
              <a:rPr lang="es-ES" smtClean="0"/>
              <a:t>:</a:t>
            </a:r>
          </a:p>
          <a:p>
            <a:pPr lvl="1"/>
            <a:r>
              <a:rPr lang="es-ES" smtClean="0"/>
              <a:t>La transmisión de datos es rápida y predecible.</a:t>
            </a:r>
          </a:p>
          <a:p>
            <a:r>
              <a:rPr lang="es-ES" b="1" smtClean="0"/>
              <a:t>Desventajas</a:t>
            </a:r>
            <a:r>
              <a:rPr lang="es-ES" smtClean="0"/>
              <a:t>:</a:t>
            </a:r>
          </a:p>
          <a:p>
            <a:pPr lvl="1"/>
            <a:r>
              <a:rPr lang="es-ES" smtClean="0"/>
              <a:t>Si un dispositivo o conexión falla, puede interrumpir toda la red.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762017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 smtClean="0"/>
              <a:t>Topología en Malla</a:t>
            </a:r>
            <a:br>
              <a:rPr lang="es-ES" b="1" dirty="0" smtClean="0"/>
            </a:b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b="1" dirty="0" smtClean="0"/>
              <a:t>Descripción</a:t>
            </a:r>
            <a:r>
              <a:rPr lang="es-ES" dirty="0" smtClean="0"/>
              <a:t>: Cada dispositivo está conectado a uno o más dispositivos, creando múltiples rutas para la transmisión de datos.</a:t>
            </a:r>
          </a:p>
          <a:p>
            <a:r>
              <a:rPr lang="es-ES" b="1" dirty="0" smtClean="0"/>
              <a:t>Ventajas</a:t>
            </a:r>
            <a:r>
              <a:rPr lang="es-ES" dirty="0" smtClean="0"/>
              <a:t>:</a:t>
            </a:r>
          </a:p>
          <a:p>
            <a:pPr lvl="1"/>
            <a:r>
              <a:rPr lang="es-ES" dirty="0" smtClean="0"/>
              <a:t>Alta redundancia y confiabilidad; si un enlace falla, los datos pueden tomar otra ruta.</a:t>
            </a:r>
          </a:p>
          <a:p>
            <a:r>
              <a:rPr lang="es-ES" b="1" dirty="0" smtClean="0"/>
              <a:t>Desventajas</a:t>
            </a:r>
            <a:r>
              <a:rPr lang="es-ES" dirty="0" smtClean="0"/>
              <a:t>:</a:t>
            </a:r>
          </a:p>
          <a:p>
            <a:pPr lvl="1"/>
            <a:r>
              <a:rPr lang="es-ES" dirty="0" smtClean="0"/>
              <a:t>Costosa y compleja de instalar y mantener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282187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 smtClean="0"/>
              <a:t>Topología en Árbol</a:t>
            </a:r>
            <a:br>
              <a:rPr lang="es-ES" b="1" dirty="0" smtClean="0"/>
            </a:b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b="1" dirty="0" smtClean="0"/>
              <a:t>Descripción</a:t>
            </a:r>
            <a:r>
              <a:rPr lang="es-ES" dirty="0" smtClean="0"/>
              <a:t>: Una forma de topología en estrella, donde múltiples dispositivos en estrella se conectan a un bus central.</a:t>
            </a:r>
          </a:p>
          <a:p>
            <a:r>
              <a:rPr lang="es-ES" b="1" smtClean="0"/>
              <a:t>Ventajas</a:t>
            </a:r>
            <a:r>
              <a:rPr lang="es-ES" smtClean="0"/>
              <a:t>:</a:t>
            </a:r>
          </a:p>
          <a:p>
            <a:pPr lvl="1"/>
            <a:r>
              <a:rPr lang="es-ES" smtClean="0"/>
              <a:t>Escalable; fácil de agregar nuevos dispositivos.</a:t>
            </a:r>
          </a:p>
          <a:p>
            <a:r>
              <a:rPr lang="es-ES" b="1" smtClean="0"/>
              <a:t>Desventajas</a:t>
            </a:r>
            <a:r>
              <a:rPr lang="es-ES" smtClean="0"/>
              <a:t>:</a:t>
            </a:r>
          </a:p>
          <a:p>
            <a:pPr lvl="1"/>
            <a:r>
              <a:rPr lang="es-ES" smtClean="0"/>
              <a:t>Depende de la red central; si el bus falla, puede afectar múltiples estrellas.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875574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92696"/>
          </a:xfrm>
        </p:spPr>
        <p:txBody>
          <a:bodyPr>
            <a:normAutofit fontScale="90000"/>
          </a:bodyPr>
          <a:lstStyle/>
          <a:p>
            <a:r>
              <a:rPr lang="es-ES" dirty="0" smtClean="0"/>
              <a:t>Componentes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3528" y="692696"/>
            <a:ext cx="8363272" cy="5001419"/>
          </a:xfrm>
        </p:spPr>
        <p:txBody>
          <a:bodyPr>
            <a:noAutofit/>
          </a:bodyPr>
          <a:lstStyle/>
          <a:p>
            <a:r>
              <a:rPr lang="es-ES" sz="2000" b="1" dirty="0" smtClean="0"/>
              <a:t>Dispositivos de Usuario</a:t>
            </a:r>
          </a:p>
          <a:p>
            <a:pPr lvl="1"/>
            <a:r>
              <a:rPr lang="es-ES" sz="1600" b="1" dirty="0" smtClean="0"/>
              <a:t>Computadoras</a:t>
            </a:r>
            <a:r>
              <a:rPr lang="es-ES" sz="1600" dirty="0" smtClean="0"/>
              <a:t>: Pueden ser de escritorio, portátiles o servidores que realizan tareas y procesan información.</a:t>
            </a:r>
          </a:p>
          <a:p>
            <a:pPr lvl="1"/>
            <a:r>
              <a:rPr lang="es-ES" sz="1600" b="1" dirty="0" smtClean="0"/>
              <a:t>Dispositivos móviles</a:t>
            </a:r>
            <a:r>
              <a:rPr lang="es-ES" sz="1600" dirty="0" smtClean="0"/>
              <a:t>: Teléfonos inteligentes y tabletas que se conectan a la red.</a:t>
            </a:r>
          </a:p>
          <a:p>
            <a:pPr lvl="1"/>
            <a:r>
              <a:rPr lang="es-ES" sz="1600" b="1" dirty="0" smtClean="0"/>
              <a:t>Impresoras y periféricos</a:t>
            </a:r>
            <a:r>
              <a:rPr lang="es-ES" sz="1600" dirty="0" smtClean="0"/>
              <a:t>: Dispositivos que se pueden compartir entre varios usuarios en la red.</a:t>
            </a:r>
          </a:p>
          <a:p>
            <a:r>
              <a:rPr lang="es-ES" sz="2000" b="1" dirty="0" smtClean="0"/>
              <a:t>Dispositivos de Red</a:t>
            </a:r>
          </a:p>
          <a:p>
            <a:pPr lvl="1"/>
            <a:r>
              <a:rPr lang="es-ES" sz="1600" b="1" dirty="0" err="1" smtClean="0"/>
              <a:t>Router</a:t>
            </a:r>
            <a:r>
              <a:rPr lang="es-ES" sz="1600" dirty="0" smtClean="0"/>
              <a:t>: Dirige el tráfico de datos entre diferentes redes, conectando, por ejemplo, una red local a Internet.</a:t>
            </a:r>
          </a:p>
          <a:p>
            <a:pPr lvl="1"/>
            <a:r>
              <a:rPr lang="es-ES" sz="1600" b="1" dirty="0" err="1" smtClean="0"/>
              <a:t>Switch</a:t>
            </a:r>
            <a:r>
              <a:rPr lang="es-ES" sz="1600" dirty="0" smtClean="0"/>
              <a:t>: Conecta múltiples dispositivos dentro de una red local (LAN) y permite la comunicación entre ellos.</a:t>
            </a:r>
          </a:p>
          <a:p>
            <a:pPr lvl="1"/>
            <a:r>
              <a:rPr lang="es-ES" sz="1600" b="1" dirty="0" smtClean="0"/>
              <a:t>Access Point (Punto de Acceso)</a:t>
            </a:r>
            <a:r>
              <a:rPr lang="es-ES" sz="1600" dirty="0" smtClean="0"/>
              <a:t>: Extiende la red inalámbrica, permitiendo que dispositivos inalámbricos se conecten a la red.</a:t>
            </a:r>
          </a:p>
          <a:p>
            <a:r>
              <a:rPr lang="es-ES" sz="2000" b="1" dirty="0" smtClean="0"/>
              <a:t>Cables y Conectores</a:t>
            </a:r>
          </a:p>
          <a:p>
            <a:pPr lvl="1"/>
            <a:r>
              <a:rPr lang="es-ES" sz="1600" b="1" dirty="0" smtClean="0"/>
              <a:t>Cables Ethernet</a:t>
            </a:r>
            <a:r>
              <a:rPr lang="es-ES" sz="1600" dirty="0" smtClean="0"/>
              <a:t>: Utilizados para conexiones por cable entre dispositivos en una red local.</a:t>
            </a:r>
          </a:p>
          <a:p>
            <a:pPr lvl="1"/>
            <a:r>
              <a:rPr lang="es-ES" sz="1600" b="1" dirty="0" smtClean="0"/>
              <a:t>Cables de fibra óptica</a:t>
            </a:r>
            <a:r>
              <a:rPr lang="es-ES" sz="1600" dirty="0" smtClean="0"/>
              <a:t>: Utilizados para conexiones de alta velocidad y larga distancia.</a:t>
            </a:r>
          </a:p>
          <a:p>
            <a:pPr lvl="1"/>
            <a:r>
              <a:rPr lang="es-ES" sz="1600" b="1" dirty="0" smtClean="0"/>
              <a:t>Conectores</a:t>
            </a:r>
            <a:r>
              <a:rPr lang="es-ES" sz="1600" dirty="0" smtClean="0"/>
              <a:t>: Como RJ-45 para cables Ethernet, que permiten la conexión física entre dispositivos.</a:t>
            </a:r>
          </a:p>
          <a:p>
            <a:pPr lvl="1"/>
            <a:endParaRPr lang="es-ES" sz="1600" dirty="0" smtClean="0"/>
          </a:p>
          <a:p>
            <a:endParaRPr lang="es-AR" sz="2000" dirty="0"/>
          </a:p>
        </p:txBody>
      </p:sp>
    </p:spTree>
    <p:extLst>
      <p:ext uri="{BB962C8B-B14F-4D97-AF65-F5344CB8AC3E}">
        <p14:creationId xmlns:p14="http://schemas.microsoft.com/office/powerpoint/2010/main" val="386734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Protocolos de Comunicación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Los </a:t>
            </a:r>
            <a:r>
              <a:rPr lang="es-ES" b="1" dirty="0" smtClean="0"/>
              <a:t>protocolos de comunicación</a:t>
            </a:r>
            <a:r>
              <a:rPr lang="es-ES" dirty="0" smtClean="0"/>
              <a:t> son un conjunto de reglas y convenciones que permiten que los dispositivos en una red se comuniquen entre sí de manera efectiva. Estos protocolos definen cómo se envían, reciben y procesan los datos. </a:t>
            </a:r>
            <a:endParaRPr lang="es-ES" dirty="0" smtClean="0"/>
          </a:p>
          <a:p>
            <a:r>
              <a:rPr lang="es-ES" dirty="0" smtClean="0"/>
              <a:t>Protocolos </a:t>
            </a:r>
            <a:r>
              <a:rPr lang="es-ES" dirty="0" err="1" smtClean="0"/>
              <a:t>Basico</a:t>
            </a:r>
            <a:r>
              <a:rPr lang="es-ES" dirty="0" smtClean="0"/>
              <a:t> TCP/IP HTTP/HTTPS FTP SMPT DHCP DNS etc.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766741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Dirección IP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Las </a:t>
            </a:r>
            <a:r>
              <a:rPr lang="es-ES" b="1" dirty="0" smtClean="0"/>
              <a:t>direcciones IP (Protocolo de Internet)</a:t>
            </a:r>
            <a:r>
              <a:rPr lang="es-ES" dirty="0" smtClean="0"/>
              <a:t> son identificadores únicos asignados a dispositivos conectados a una red que utiliza el Protocolo de Internet para la comunicación. Estas direcciones permiten que los dispositivos se encuentren y se comuniquen entre sí a través de la red.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192325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 smtClean="0"/>
              <a:t>Tipos de Direcciones IP</a:t>
            </a:r>
            <a:br>
              <a:rPr lang="es-ES" b="1" dirty="0" smtClean="0"/>
            </a:b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b="1" dirty="0" smtClean="0"/>
              <a:t>IPv4 (Internet </a:t>
            </a:r>
            <a:r>
              <a:rPr lang="es-ES" b="1" dirty="0" err="1" smtClean="0"/>
              <a:t>Protocol</a:t>
            </a:r>
            <a:r>
              <a:rPr lang="es-ES" b="1" dirty="0" smtClean="0"/>
              <a:t> </a:t>
            </a:r>
            <a:r>
              <a:rPr lang="es-ES" b="1" dirty="0" err="1" smtClean="0"/>
              <a:t>version</a:t>
            </a:r>
            <a:r>
              <a:rPr lang="es-ES" b="1" dirty="0" smtClean="0"/>
              <a:t> 4)</a:t>
            </a:r>
            <a:r>
              <a:rPr lang="es-ES" dirty="0" smtClean="0"/>
              <a:t>:</a:t>
            </a:r>
          </a:p>
          <a:p>
            <a:pPr lvl="1"/>
            <a:r>
              <a:rPr lang="es-ES" b="1" dirty="0" smtClean="0"/>
              <a:t>Formato</a:t>
            </a:r>
            <a:r>
              <a:rPr lang="es-ES" dirty="0" smtClean="0"/>
              <a:t>: Se representa como cuatro grupos de números (octetos) separados por puntos, por ejemplo, 192.168.1.1.</a:t>
            </a:r>
          </a:p>
          <a:p>
            <a:pPr lvl="1"/>
            <a:r>
              <a:rPr lang="es-ES" b="1" dirty="0" smtClean="0"/>
              <a:t>Direcciones posibles</a:t>
            </a:r>
            <a:r>
              <a:rPr lang="es-ES" dirty="0" smtClean="0"/>
              <a:t>: Aproximadamente 4.3 mil millones de direcciones únicas. </a:t>
            </a:r>
          </a:p>
          <a:p>
            <a:pPr lvl="2"/>
            <a:r>
              <a:rPr lang="es-ES" dirty="0" smtClean="0"/>
              <a:t>Nota 4,3 mil millones = </a:t>
            </a:r>
            <a:r>
              <a:rPr lang="es-AR" dirty="0"/>
              <a:t>4,300,000,000</a:t>
            </a:r>
            <a:endParaRPr lang="es-ES" dirty="0" smtClean="0"/>
          </a:p>
          <a:p>
            <a:pPr lvl="1"/>
            <a:r>
              <a:rPr lang="es-ES" b="1" dirty="0" smtClean="0"/>
              <a:t>Uso</a:t>
            </a:r>
            <a:r>
              <a:rPr lang="es-ES" dirty="0" smtClean="0"/>
              <a:t>: Es el formato más común, pero está siendo cada vez más limitado debido al aumento de dispositivos conectados.</a:t>
            </a:r>
          </a:p>
          <a:p>
            <a:r>
              <a:rPr lang="es-ES" b="1" dirty="0" smtClean="0"/>
              <a:t>IPv6 (Internet </a:t>
            </a:r>
            <a:r>
              <a:rPr lang="es-ES" b="1" dirty="0" err="1" smtClean="0"/>
              <a:t>Protocol</a:t>
            </a:r>
            <a:r>
              <a:rPr lang="es-ES" b="1" dirty="0" smtClean="0"/>
              <a:t> </a:t>
            </a:r>
            <a:r>
              <a:rPr lang="es-ES" b="1" dirty="0" err="1" smtClean="0"/>
              <a:t>version</a:t>
            </a:r>
            <a:r>
              <a:rPr lang="es-ES" b="1" dirty="0" smtClean="0"/>
              <a:t> 6)</a:t>
            </a:r>
            <a:r>
              <a:rPr lang="es-ES" dirty="0" smtClean="0"/>
              <a:t>:</a:t>
            </a:r>
          </a:p>
          <a:p>
            <a:pPr lvl="1"/>
            <a:r>
              <a:rPr lang="es-ES" b="1" dirty="0" smtClean="0"/>
              <a:t>Formato</a:t>
            </a:r>
            <a:r>
              <a:rPr lang="es-ES" dirty="0" smtClean="0"/>
              <a:t>: Se representa como ocho grupos de cuatro dígitos hexadecimales, separados por dos puntos, por ejemplo, 2001:0db8:85a3:0000:0000:8a2e:0370:7334.</a:t>
            </a:r>
          </a:p>
          <a:p>
            <a:pPr lvl="1"/>
            <a:r>
              <a:rPr lang="es-ES" b="1" dirty="0" smtClean="0"/>
              <a:t>Direcciones posibles</a:t>
            </a:r>
            <a:r>
              <a:rPr lang="es-ES" dirty="0" smtClean="0"/>
              <a:t>: Casi 340 </a:t>
            </a:r>
            <a:r>
              <a:rPr lang="es-ES" dirty="0" err="1" smtClean="0"/>
              <a:t>undecillones</a:t>
            </a:r>
            <a:r>
              <a:rPr lang="es-ES" dirty="0" smtClean="0"/>
              <a:t> de direcciones únicas (3.4 x 10^38). </a:t>
            </a:r>
          </a:p>
          <a:p>
            <a:pPr lvl="2"/>
            <a:r>
              <a:rPr lang="es-ES" dirty="0" smtClean="0"/>
              <a:t>Nota 1 </a:t>
            </a:r>
            <a:r>
              <a:rPr lang="es-ES" dirty="0" err="1" smtClean="0"/>
              <a:t>undecillon</a:t>
            </a:r>
            <a:r>
              <a:rPr lang="es-ES" dirty="0" smtClean="0"/>
              <a:t>= </a:t>
            </a:r>
            <a:r>
              <a:rPr lang="es-AR" dirty="0"/>
              <a:t>1,000,000,000,000,000,000,000,000,000,000,000,000</a:t>
            </a:r>
            <a:endParaRPr lang="es-ES" dirty="0" smtClean="0"/>
          </a:p>
          <a:p>
            <a:pPr lvl="1"/>
            <a:r>
              <a:rPr lang="es-ES" b="1" dirty="0" smtClean="0"/>
              <a:t>Uso</a:t>
            </a:r>
            <a:r>
              <a:rPr lang="es-ES" dirty="0" smtClean="0"/>
              <a:t>: Diseñado para resolver la escasez de direcciones IPv4 y mejorar la eficiencia del enrutamiento y la seguridad.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678383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Tipos de Direcciones IP según su Asignación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484784"/>
            <a:ext cx="8363272" cy="4641379"/>
          </a:xfrm>
        </p:spPr>
        <p:txBody>
          <a:bodyPr>
            <a:noAutofit/>
          </a:bodyPr>
          <a:lstStyle/>
          <a:p>
            <a:r>
              <a:rPr lang="es-ES" sz="2400" b="1" dirty="0" smtClean="0"/>
              <a:t>Direcciones IP Públicas</a:t>
            </a:r>
            <a:r>
              <a:rPr lang="es-ES" sz="2400" dirty="0" smtClean="0"/>
              <a:t>:</a:t>
            </a:r>
          </a:p>
          <a:p>
            <a:pPr lvl="1"/>
            <a:r>
              <a:rPr lang="es-ES" sz="2400" b="1" dirty="0" smtClean="0"/>
              <a:t>Descripción</a:t>
            </a:r>
            <a:r>
              <a:rPr lang="es-ES" sz="2400" dirty="0" smtClean="0"/>
              <a:t>: Direcciones que son accesibles desde cualquier parte de Internet. Son únicas en toda la red global.</a:t>
            </a:r>
          </a:p>
          <a:p>
            <a:pPr lvl="1"/>
            <a:r>
              <a:rPr lang="es-ES" sz="2400" b="1" dirty="0" smtClean="0"/>
              <a:t>Uso</a:t>
            </a:r>
            <a:r>
              <a:rPr lang="es-ES" sz="2400" dirty="0" smtClean="0"/>
              <a:t>: Asignadas a dispositivos como servidores web, </a:t>
            </a:r>
            <a:r>
              <a:rPr lang="es-ES" sz="2400" dirty="0" err="1" smtClean="0"/>
              <a:t>routers</a:t>
            </a:r>
            <a:r>
              <a:rPr lang="es-ES" sz="2400" dirty="0" smtClean="0"/>
              <a:t> y otros dispositivos que necesitan ser accesibles desde fuera de una red local.</a:t>
            </a:r>
          </a:p>
          <a:p>
            <a:r>
              <a:rPr lang="es-ES" sz="2400" b="1" dirty="0" smtClean="0"/>
              <a:t>Direcciones IP Privadas</a:t>
            </a:r>
            <a:r>
              <a:rPr lang="es-ES" sz="2400" dirty="0" smtClean="0"/>
              <a:t>:</a:t>
            </a:r>
          </a:p>
          <a:p>
            <a:pPr lvl="1"/>
            <a:r>
              <a:rPr lang="es-ES" sz="2400" b="1" dirty="0" smtClean="0"/>
              <a:t>Descripción</a:t>
            </a:r>
            <a:r>
              <a:rPr lang="es-ES" sz="2400" dirty="0" smtClean="0"/>
              <a:t>: Direcciones utilizadas dentro de una red local (LAN). No son enrutables en Internet y están diseñadas para el uso interno.</a:t>
            </a:r>
          </a:p>
          <a:p>
            <a:pPr lvl="1"/>
            <a:r>
              <a:rPr lang="es-ES" sz="2400" b="1" dirty="0" smtClean="0"/>
              <a:t>Uso</a:t>
            </a:r>
            <a:r>
              <a:rPr lang="es-ES" sz="2400" dirty="0" smtClean="0"/>
              <a:t>: Conectan dispositivos en redes locales, como hogares o empresas.</a:t>
            </a:r>
          </a:p>
          <a:p>
            <a:pPr lvl="1"/>
            <a:endParaRPr lang="es-ES" sz="2400" dirty="0" smtClean="0"/>
          </a:p>
          <a:p>
            <a:endParaRPr lang="es-AR" sz="2400" dirty="0"/>
          </a:p>
        </p:txBody>
      </p:sp>
    </p:spTree>
    <p:extLst>
      <p:ext uri="{BB962C8B-B14F-4D97-AF65-F5344CB8AC3E}">
        <p14:creationId xmlns:p14="http://schemas.microsoft.com/office/powerpoint/2010/main" val="1249397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Asignación de Direcciones IP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b="1" dirty="0" smtClean="0"/>
              <a:t>Estática</a:t>
            </a:r>
            <a:r>
              <a:rPr lang="es-ES" dirty="0" smtClean="0"/>
              <a:t>:</a:t>
            </a:r>
          </a:p>
          <a:p>
            <a:pPr lvl="1"/>
            <a:r>
              <a:rPr lang="es-ES" b="1" dirty="0" smtClean="0"/>
              <a:t>Descripción</a:t>
            </a:r>
            <a:r>
              <a:rPr lang="es-ES" dirty="0" smtClean="0"/>
              <a:t>: La dirección IP es fija y no cambia. Se asigna manualmente a un dispositivo.</a:t>
            </a:r>
          </a:p>
          <a:p>
            <a:pPr lvl="1"/>
            <a:r>
              <a:rPr lang="es-ES" b="1" dirty="0" smtClean="0"/>
              <a:t>Uso</a:t>
            </a:r>
            <a:r>
              <a:rPr lang="es-ES" dirty="0" smtClean="0"/>
              <a:t>: Ideal para servidores o dispositivos que necesitan una dirección constante.</a:t>
            </a:r>
          </a:p>
          <a:p>
            <a:r>
              <a:rPr lang="es-ES" b="1" dirty="0" smtClean="0"/>
              <a:t>Dinámica</a:t>
            </a:r>
            <a:r>
              <a:rPr lang="es-ES" dirty="0" smtClean="0"/>
              <a:t>:</a:t>
            </a:r>
          </a:p>
          <a:p>
            <a:pPr lvl="1"/>
            <a:r>
              <a:rPr lang="es-ES" b="1" dirty="0" smtClean="0"/>
              <a:t>Descripción</a:t>
            </a:r>
            <a:r>
              <a:rPr lang="es-ES" dirty="0" smtClean="0"/>
              <a:t>: La dirección IP se asigna automáticamente mediante un servidor DHCP y puede cambiar con el tiempo.</a:t>
            </a:r>
          </a:p>
          <a:p>
            <a:pPr lvl="1"/>
            <a:r>
              <a:rPr lang="es-ES" b="1" dirty="0" smtClean="0"/>
              <a:t>Uso</a:t>
            </a:r>
            <a:r>
              <a:rPr lang="es-ES" dirty="0" smtClean="0"/>
              <a:t>: Común en redes domésticas y empresas, ya que simplifica la administración.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111574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Clases de Direcciones IPv4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Las direcciones IP (IPv4) se clasifican en </a:t>
            </a:r>
            <a:r>
              <a:rPr lang="es-ES" b="1" dirty="0" smtClean="0"/>
              <a:t>clases</a:t>
            </a:r>
            <a:r>
              <a:rPr lang="es-ES" dirty="0" smtClean="0"/>
              <a:t> según su rango, lo que determina cómo se utilizan en redes. Originalmente, esta clasificación facilitaba la organización de las direcciones para diferentes tipos de redes. 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379391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s-ES" dirty="0" smtClean="0"/>
              <a:t>Clase A B C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5536" y="1052736"/>
            <a:ext cx="8435280" cy="4929411"/>
          </a:xfrm>
        </p:spPr>
        <p:txBody>
          <a:bodyPr>
            <a:noAutofit/>
          </a:bodyPr>
          <a:lstStyle/>
          <a:p>
            <a:r>
              <a:rPr lang="es-ES" sz="2000" b="1" dirty="0" smtClean="0"/>
              <a:t>Clase A</a:t>
            </a:r>
          </a:p>
          <a:p>
            <a:pPr lvl="1"/>
            <a:r>
              <a:rPr lang="es-ES" sz="1800" b="1" dirty="0" smtClean="0"/>
              <a:t>Rango</a:t>
            </a:r>
            <a:r>
              <a:rPr lang="es-ES" sz="1800" dirty="0" smtClean="0"/>
              <a:t>: 1.0.0.0 a 126.255.255.255</a:t>
            </a:r>
          </a:p>
          <a:p>
            <a:pPr lvl="2"/>
            <a:r>
              <a:rPr lang="es-ES" sz="1400" b="1" dirty="0" smtClean="0"/>
              <a:t>Máscara de subred</a:t>
            </a:r>
            <a:r>
              <a:rPr lang="es-ES" sz="1400" dirty="0" smtClean="0"/>
              <a:t>: 255.0.0.0 </a:t>
            </a:r>
          </a:p>
          <a:p>
            <a:pPr lvl="2"/>
            <a:r>
              <a:rPr lang="es-ES" sz="1400" b="1" dirty="0" smtClean="0"/>
              <a:t>Uso</a:t>
            </a:r>
            <a:r>
              <a:rPr lang="es-ES" sz="1400" dirty="0" smtClean="0"/>
              <a:t>: Diseñada para redes muy grandes. Permite un gran número de direcciones de host (más de 16 millones).</a:t>
            </a:r>
          </a:p>
          <a:p>
            <a:pPr lvl="2"/>
            <a:r>
              <a:rPr lang="es-ES" sz="1400" b="1" dirty="0" smtClean="0"/>
              <a:t>Ejemplo</a:t>
            </a:r>
            <a:r>
              <a:rPr lang="es-ES" sz="1400" dirty="0" smtClean="0"/>
              <a:t>: 10.0.0.1</a:t>
            </a:r>
          </a:p>
          <a:p>
            <a:r>
              <a:rPr lang="es-ES" sz="2000" b="1" dirty="0" smtClean="0"/>
              <a:t>Clase B</a:t>
            </a:r>
          </a:p>
          <a:p>
            <a:pPr lvl="1"/>
            <a:r>
              <a:rPr lang="es-ES" sz="1800" b="1" dirty="0" smtClean="0"/>
              <a:t>Rango</a:t>
            </a:r>
            <a:r>
              <a:rPr lang="es-ES" sz="1800" dirty="0" smtClean="0"/>
              <a:t>: 128.0.0.0 a 191.255.255.255</a:t>
            </a:r>
          </a:p>
          <a:p>
            <a:pPr lvl="1"/>
            <a:r>
              <a:rPr lang="es-ES" sz="1800" b="1" dirty="0" smtClean="0"/>
              <a:t>Máscara de subred</a:t>
            </a:r>
            <a:r>
              <a:rPr lang="es-ES" sz="1800" dirty="0" smtClean="0"/>
              <a:t>: 255.255.0.0 </a:t>
            </a:r>
          </a:p>
          <a:p>
            <a:pPr lvl="1"/>
            <a:r>
              <a:rPr lang="es-ES" sz="1800" b="1" dirty="0" smtClean="0"/>
              <a:t>Uso</a:t>
            </a:r>
            <a:r>
              <a:rPr lang="es-ES" sz="1800" dirty="0" smtClean="0"/>
              <a:t>: Adecuada para redes medianas. Permite alrededor de 65,000 direcciones de host.</a:t>
            </a:r>
          </a:p>
          <a:p>
            <a:pPr lvl="1"/>
            <a:r>
              <a:rPr lang="es-ES" sz="1800" b="1" dirty="0" smtClean="0"/>
              <a:t>Ejemplo</a:t>
            </a:r>
            <a:r>
              <a:rPr lang="es-ES" sz="1800" dirty="0" smtClean="0"/>
              <a:t>: 172.16.0.1</a:t>
            </a:r>
          </a:p>
          <a:p>
            <a:r>
              <a:rPr lang="es-ES" sz="2000" b="1" dirty="0" smtClean="0"/>
              <a:t>3. Clase C</a:t>
            </a:r>
          </a:p>
          <a:p>
            <a:pPr lvl="1"/>
            <a:r>
              <a:rPr lang="es-ES" sz="1800" b="1" dirty="0" smtClean="0"/>
              <a:t>Rango</a:t>
            </a:r>
            <a:r>
              <a:rPr lang="es-ES" sz="1800" dirty="0" smtClean="0"/>
              <a:t>: 192.0.0.0 a 223.255.255.255</a:t>
            </a:r>
          </a:p>
          <a:p>
            <a:pPr lvl="1"/>
            <a:r>
              <a:rPr lang="es-ES" sz="1800" b="1" dirty="0" smtClean="0"/>
              <a:t>Máscara de subred</a:t>
            </a:r>
            <a:r>
              <a:rPr lang="es-ES" sz="1800" dirty="0" smtClean="0"/>
              <a:t>: 255.255.255.0 (</a:t>
            </a:r>
          </a:p>
          <a:p>
            <a:pPr lvl="1"/>
            <a:r>
              <a:rPr lang="es-ES" sz="1800" b="1" dirty="0" smtClean="0"/>
              <a:t>Uso</a:t>
            </a:r>
            <a:r>
              <a:rPr lang="es-ES" sz="1800" dirty="0" smtClean="0"/>
              <a:t>: Ideal para redes pequeñas. Permite hasta 254 direcciones de host.</a:t>
            </a:r>
          </a:p>
          <a:p>
            <a:pPr lvl="1"/>
            <a:r>
              <a:rPr lang="es-ES" sz="1800" b="1" dirty="0" smtClean="0"/>
              <a:t>Ejemplo</a:t>
            </a:r>
            <a:r>
              <a:rPr lang="es-ES" sz="1800" dirty="0" smtClean="0"/>
              <a:t>: 192.168.1.1</a:t>
            </a:r>
          </a:p>
          <a:p>
            <a:endParaRPr lang="es-AR" sz="2000" dirty="0"/>
          </a:p>
        </p:txBody>
      </p:sp>
    </p:spTree>
    <p:extLst>
      <p:ext uri="{BB962C8B-B14F-4D97-AF65-F5344CB8AC3E}">
        <p14:creationId xmlns:p14="http://schemas.microsoft.com/office/powerpoint/2010/main" val="46025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 smtClean="0"/>
              <a:t>Direcciones Especiales</a:t>
            </a:r>
            <a:br>
              <a:rPr lang="es-ES" b="1" dirty="0" smtClean="0"/>
            </a:b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b="1" dirty="0" smtClean="0"/>
              <a:t>Dirección de </a:t>
            </a:r>
            <a:r>
              <a:rPr lang="es-ES" b="1" dirty="0" err="1" smtClean="0"/>
              <a:t>loopback</a:t>
            </a:r>
            <a:r>
              <a:rPr lang="es-ES" dirty="0" smtClean="0"/>
              <a:t>: 127.0.0.1, utilizada para pruebas internas en la máquina local.</a:t>
            </a:r>
          </a:p>
          <a:p>
            <a:r>
              <a:rPr lang="es-ES" b="1" dirty="0" smtClean="0"/>
              <a:t>Direcciones IP privadas</a:t>
            </a:r>
            <a:r>
              <a:rPr lang="es-ES" dirty="0" smtClean="0"/>
              <a:t>: Son direcciones no enrutables en Internet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51547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24744"/>
          </a:xfrm>
        </p:spPr>
        <p:txBody>
          <a:bodyPr/>
          <a:lstStyle/>
          <a:p>
            <a:r>
              <a:rPr lang="es-ES" dirty="0" smtClean="0"/>
              <a:t>Comandos DOS redes I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5536" y="1268760"/>
            <a:ext cx="8229600" cy="4525963"/>
          </a:xfrm>
        </p:spPr>
        <p:txBody>
          <a:bodyPr>
            <a:noAutofit/>
          </a:bodyPr>
          <a:lstStyle/>
          <a:p>
            <a:r>
              <a:rPr lang="es-ES" sz="2200" b="1" dirty="0" err="1" smtClean="0"/>
              <a:t>ipconfig</a:t>
            </a:r>
            <a:endParaRPr lang="es-ES" sz="2200" dirty="0" smtClean="0"/>
          </a:p>
          <a:p>
            <a:pPr lvl="1"/>
            <a:r>
              <a:rPr lang="es-ES" sz="2200" b="1" dirty="0" smtClean="0"/>
              <a:t>Descripción</a:t>
            </a:r>
            <a:r>
              <a:rPr lang="es-ES" sz="2200" dirty="0" smtClean="0"/>
              <a:t>: Muestra la configuración de IP de todas las interfaces de red.</a:t>
            </a:r>
          </a:p>
          <a:p>
            <a:pPr lvl="1"/>
            <a:r>
              <a:rPr lang="es-ES" sz="2200" b="1" dirty="0" smtClean="0"/>
              <a:t>Uso</a:t>
            </a:r>
            <a:r>
              <a:rPr lang="es-ES" sz="2200" dirty="0" smtClean="0"/>
              <a:t>: </a:t>
            </a:r>
            <a:r>
              <a:rPr lang="es-ES" sz="2200" dirty="0" err="1" smtClean="0"/>
              <a:t>ipconfig</a:t>
            </a:r>
            <a:endParaRPr lang="es-ES" sz="2200" dirty="0" smtClean="0"/>
          </a:p>
          <a:p>
            <a:r>
              <a:rPr lang="es-ES" sz="2200" b="1" dirty="0" smtClean="0"/>
              <a:t>ping</a:t>
            </a:r>
            <a:endParaRPr lang="es-ES" sz="2200" dirty="0" smtClean="0"/>
          </a:p>
          <a:p>
            <a:pPr lvl="1"/>
            <a:r>
              <a:rPr lang="es-ES" sz="2200" b="1" dirty="0" smtClean="0"/>
              <a:t>Descripción</a:t>
            </a:r>
            <a:r>
              <a:rPr lang="es-ES" sz="2200" dirty="0" smtClean="0"/>
              <a:t>: Envía paquetes a un host para verificar la conectividad.</a:t>
            </a:r>
          </a:p>
          <a:p>
            <a:pPr lvl="1"/>
            <a:r>
              <a:rPr lang="es-ES" sz="2200" b="1" dirty="0" smtClean="0"/>
              <a:t>Uso</a:t>
            </a:r>
            <a:r>
              <a:rPr lang="es-ES" sz="2200" dirty="0" smtClean="0"/>
              <a:t>: ping [dirección IP o nombre de host] (ejemplo: ping google.com)</a:t>
            </a:r>
          </a:p>
          <a:p>
            <a:r>
              <a:rPr lang="es-ES" sz="2200" b="1" dirty="0" err="1" smtClean="0"/>
              <a:t>tracert</a:t>
            </a:r>
            <a:endParaRPr lang="es-ES" sz="2200" dirty="0" smtClean="0"/>
          </a:p>
          <a:p>
            <a:pPr lvl="1"/>
            <a:r>
              <a:rPr lang="es-ES" sz="2200" b="1" dirty="0" smtClean="0"/>
              <a:t>Descripción</a:t>
            </a:r>
            <a:r>
              <a:rPr lang="es-ES" sz="2200" dirty="0" smtClean="0"/>
              <a:t>: Muestra la ruta que toman los paquetes para llegar a un host específico.</a:t>
            </a:r>
          </a:p>
          <a:p>
            <a:pPr lvl="1"/>
            <a:r>
              <a:rPr lang="es-ES" sz="2200" b="1" dirty="0" smtClean="0"/>
              <a:t>Uso</a:t>
            </a:r>
            <a:r>
              <a:rPr lang="es-ES" sz="2200" dirty="0" smtClean="0"/>
              <a:t>: </a:t>
            </a:r>
            <a:r>
              <a:rPr lang="es-ES" sz="2200" dirty="0" err="1" smtClean="0"/>
              <a:t>tracert</a:t>
            </a:r>
            <a:r>
              <a:rPr lang="es-ES" sz="2200" dirty="0" smtClean="0"/>
              <a:t> [dirección IP o nombre de host] (ejemplo: </a:t>
            </a:r>
            <a:r>
              <a:rPr lang="es-ES" sz="2200" dirty="0" err="1" smtClean="0"/>
              <a:t>tracert</a:t>
            </a:r>
            <a:r>
              <a:rPr lang="es-ES" sz="2200" dirty="0" smtClean="0"/>
              <a:t> google.com)</a:t>
            </a:r>
          </a:p>
          <a:p>
            <a:pPr marL="457200" lvl="1" indent="0">
              <a:buNone/>
            </a:pPr>
            <a:endParaRPr lang="es-ES" sz="2200" dirty="0" smtClean="0"/>
          </a:p>
          <a:p>
            <a:endParaRPr lang="es-AR" sz="2200" dirty="0"/>
          </a:p>
        </p:txBody>
      </p:sp>
    </p:spTree>
    <p:extLst>
      <p:ext uri="{BB962C8B-B14F-4D97-AF65-F5344CB8AC3E}">
        <p14:creationId xmlns:p14="http://schemas.microsoft.com/office/powerpoint/2010/main" val="511816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Comandos DOS redes II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200" b="1" dirty="0" err="1" smtClean="0"/>
              <a:t>nslookup</a:t>
            </a:r>
            <a:endParaRPr lang="es-ES" sz="2200" dirty="0" smtClean="0"/>
          </a:p>
          <a:p>
            <a:pPr lvl="1"/>
            <a:r>
              <a:rPr lang="es-ES" sz="2200" b="1" dirty="0" smtClean="0"/>
              <a:t>Descripción</a:t>
            </a:r>
            <a:r>
              <a:rPr lang="es-ES" sz="2200" dirty="0" smtClean="0"/>
              <a:t>: Consulta el servidor DNS para obtener la dirección IP de un nombre de dominio.</a:t>
            </a:r>
          </a:p>
          <a:p>
            <a:pPr lvl="1"/>
            <a:r>
              <a:rPr lang="es-ES" sz="2200" b="1" dirty="0" smtClean="0"/>
              <a:t>Uso</a:t>
            </a:r>
            <a:r>
              <a:rPr lang="es-ES" sz="2200" dirty="0" smtClean="0"/>
              <a:t>: </a:t>
            </a:r>
            <a:r>
              <a:rPr lang="es-ES" sz="2200" dirty="0" err="1" smtClean="0"/>
              <a:t>nslookup</a:t>
            </a:r>
            <a:r>
              <a:rPr lang="es-ES" sz="2200" dirty="0" smtClean="0"/>
              <a:t> [nombre de dominio] (ejemplo: </a:t>
            </a:r>
            <a:r>
              <a:rPr lang="es-ES" sz="2200" dirty="0" err="1" smtClean="0"/>
              <a:t>nslookup</a:t>
            </a:r>
            <a:r>
              <a:rPr lang="es-ES" sz="2200" dirty="0" smtClean="0"/>
              <a:t> www.ejemplo.com)</a:t>
            </a:r>
          </a:p>
          <a:p>
            <a:r>
              <a:rPr lang="es-ES" sz="2200" b="1" dirty="0" err="1" smtClean="0"/>
              <a:t>netstat</a:t>
            </a:r>
            <a:endParaRPr lang="es-ES" sz="2200" dirty="0" smtClean="0"/>
          </a:p>
          <a:p>
            <a:pPr lvl="1"/>
            <a:r>
              <a:rPr lang="es-ES" sz="2200" b="1" dirty="0" smtClean="0"/>
              <a:t>Descripción</a:t>
            </a:r>
            <a:r>
              <a:rPr lang="es-ES" sz="2200" dirty="0" smtClean="0"/>
              <a:t>: Muestra las conexiones de red activas y los puertos en uso.</a:t>
            </a:r>
          </a:p>
          <a:p>
            <a:pPr lvl="1"/>
            <a:r>
              <a:rPr lang="es-ES" sz="2200" b="1" dirty="0" smtClean="0"/>
              <a:t>Uso</a:t>
            </a:r>
            <a:r>
              <a:rPr lang="es-ES" sz="2200" dirty="0" smtClean="0"/>
              <a:t>: </a:t>
            </a:r>
            <a:r>
              <a:rPr lang="es-ES" sz="2200" dirty="0" err="1" smtClean="0"/>
              <a:t>netstat</a:t>
            </a:r>
            <a:endParaRPr lang="es-ES" sz="2200" dirty="0" smtClean="0"/>
          </a:p>
          <a:p>
            <a:endParaRPr lang="es-AR" sz="2200" dirty="0"/>
          </a:p>
        </p:txBody>
      </p:sp>
    </p:spTree>
    <p:extLst>
      <p:ext uri="{BB962C8B-B14F-4D97-AF65-F5344CB8AC3E}">
        <p14:creationId xmlns:p14="http://schemas.microsoft.com/office/powerpoint/2010/main" val="3671506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Cables de Red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Los </a:t>
            </a:r>
            <a:r>
              <a:rPr lang="es-ES" b="1" dirty="0" smtClean="0"/>
              <a:t>cables de red</a:t>
            </a:r>
            <a:r>
              <a:rPr lang="es-ES" dirty="0" smtClean="0"/>
              <a:t> son fundamentales para la transmisión de datos entre dispositivos en una red. Existen varios tipos de cables, cada uno diseñado para diferentes aplicaciones y necesidades de rendimiento.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865024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1061" y="105509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s-ES" b="1" dirty="0" smtClean="0"/>
              <a:t>Cable Ethernet (Cable de Par Trenzado)</a:t>
            </a:r>
            <a:br>
              <a:rPr lang="es-ES" b="1" dirty="0" smtClean="0"/>
            </a:b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55574" y="2416479"/>
            <a:ext cx="8592889" cy="4525963"/>
          </a:xfrm>
        </p:spPr>
        <p:txBody>
          <a:bodyPr>
            <a:normAutofit/>
          </a:bodyPr>
          <a:lstStyle/>
          <a:p>
            <a:r>
              <a:rPr lang="es-ES" sz="2800" b="1" dirty="0" smtClean="0"/>
              <a:t>Tipo</a:t>
            </a:r>
            <a:r>
              <a:rPr lang="es-ES" sz="2800" dirty="0" smtClean="0"/>
              <a:t>: Puede ser de cobre (par trenzado).</a:t>
            </a:r>
          </a:p>
          <a:p>
            <a:r>
              <a:rPr lang="es-ES" sz="2800" b="1" dirty="0" smtClean="0"/>
              <a:t>Categorías</a:t>
            </a:r>
            <a:r>
              <a:rPr lang="es-ES" sz="2800" dirty="0" smtClean="0"/>
              <a:t>:</a:t>
            </a:r>
          </a:p>
          <a:p>
            <a:pPr lvl="1"/>
            <a:r>
              <a:rPr lang="es-ES" sz="1800" b="1" dirty="0" err="1" smtClean="0"/>
              <a:t>Cat</a:t>
            </a:r>
            <a:r>
              <a:rPr lang="es-ES" sz="1800" b="1" dirty="0" smtClean="0"/>
              <a:t> 5e</a:t>
            </a:r>
            <a:r>
              <a:rPr lang="es-ES" sz="1800" dirty="0" smtClean="0"/>
              <a:t>: Soporta hasta 1 </a:t>
            </a:r>
            <a:r>
              <a:rPr lang="es-ES" sz="1800" dirty="0" err="1" smtClean="0"/>
              <a:t>Gbps</a:t>
            </a:r>
            <a:r>
              <a:rPr lang="es-ES" sz="1800" dirty="0" smtClean="0"/>
              <a:t> a distancias de hasta 100 metros.</a:t>
            </a:r>
          </a:p>
          <a:p>
            <a:pPr lvl="1"/>
            <a:r>
              <a:rPr lang="es-ES" sz="1800" b="1" dirty="0" err="1" smtClean="0"/>
              <a:t>Cat</a:t>
            </a:r>
            <a:r>
              <a:rPr lang="es-ES" sz="1800" b="1" dirty="0" smtClean="0"/>
              <a:t> 6</a:t>
            </a:r>
            <a:r>
              <a:rPr lang="es-ES" sz="1800" dirty="0" smtClean="0"/>
              <a:t>: Soporta hasta 10 </a:t>
            </a:r>
            <a:r>
              <a:rPr lang="es-ES" sz="1800" dirty="0" err="1" smtClean="0"/>
              <a:t>Gbps</a:t>
            </a:r>
            <a:r>
              <a:rPr lang="es-ES" sz="1800" dirty="0" smtClean="0"/>
              <a:t> a distancias de hasta 55 metros.</a:t>
            </a:r>
          </a:p>
          <a:p>
            <a:pPr lvl="1"/>
            <a:r>
              <a:rPr lang="es-ES" sz="1800" b="1" dirty="0" err="1" smtClean="0"/>
              <a:t>Cat</a:t>
            </a:r>
            <a:r>
              <a:rPr lang="es-ES" sz="1800" b="1" dirty="0" smtClean="0"/>
              <a:t> 6a</a:t>
            </a:r>
            <a:r>
              <a:rPr lang="es-ES" sz="1800" dirty="0" smtClean="0"/>
              <a:t>: Mejora el </a:t>
            </a:r>
            <a:r>
              <a:rPr lang="es-ES" sz="1800" dirty="0" err="1" smtClean="0"/>
              <a:t>Cat</a:t>
            </a:r>
            <a:r>
              <a:rPr lang="es-ES" sz="1800" dirty="0" smtClean="0"/>
              <a:t> 6, soportando 10 </a:t>
            </a:r>
            <a:r>
              <a:rPr lang="es-ES" sz="1800" dirty="0" err="1" smtClean="0"/>
              <a:t>Gbps</a:t>
            </a:r>
            <a:r>
              <a:rPr lang="es-ES" sz="1800" dirty="0" smtClean="0"/>
              <a:t> a distancias de hasta 100 metros.</a:t>
            </a:r>
          </a:p>
          <a:p>
            <a:pPr lvl="1"/>
            <a:r>
              <a:rPr lang="es-ES" sz="1800" b="1" dirty="0" err="1" smtClean="0"/>
              <a:t>Cat</a:t>
            </a:r>
            <a:r>
              <a:rPr lang="es-ES" sz="1800" b="1" dirty="0" smtClean="0"/>
              <a:t> 7</a:t>
            </a:r>
            <a:r>
              <a:rPr lang="es-ES" sz="1800" dirty="0" smtClean="0"/>
              <a:t>: Soporta hasta 10 </a:t>
            </a:r>
            <a:r>
              <a:rPr lang="es-ES" sz="1800" dirty="0" err="1" smtClean="0"/>
              <a:t>Gbps</a:t>
            </a:r>
            <a:r>
              <a:rPr lang="es-ES" sz="1800" dirty="0" smtClean="0"/>
              <a:t> y frecuencias más altas (hasta 600 MHz).</a:t>
            </a:r>
          </a:p>
          <a:p>
            <a:pPr lvl="1"/>
            <a:r>
              <a:rPr lang="es-ES" sz="1800" b="1" dirty="0" err="1" smtClean="0"/>
              <a:t>Cat</a:t>
            </a:r>
            <a:r>
              <a:rPr lang="es-ES" sz="1800" b="1" dirty="0" smtClean="0"/>
              <a:t> 8</a:t>
            </a:r>
            <a:r>
              <a:rPr lang="es-ES" sz="1800" dirty="0" smtClean="0"/>
              <a:t>: Diseñado para centros de datos, soporta hasta 25-40 </a:t>
            </a:r>
            <a:r>
              <a:rPr lang="es-ES" sz="1800" dirty="0" err="1" smtClean="0"/>
              <a:t>Gbps</a:t>
            </a:r>
            <a:r>
              <a:rPr lang="es-ES" sz="1800" dirty="0" smtClean="0"/>
              <a:t> a distancias de hasta 30 metros.</a:t>
            </a:r>
          </a:p>
          <a:p>
            <a:endParaRPr lang="es-AR" sz="2800" dirty="0"/>
          </a:p>
        </p:txBody>
      </p:sp>
      <p:sp>
        <p:nvSpPr>
          <p:cNvPr id="4" name="AutoShape 2" descr="Cable Red 3 Metros Cat 6 Rj45 Utp Armado Ethernet Interior | Mercado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5" name="AutoShape 4" descr="Cable Red 3 Metros Cat 6 Rj45 Utp Armado Ethernet Interior | MercadoLibr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6" name="AutoShape 6" descr="Cable Red 3 Metros Cat 6 Rj45 Utp Armado Ethernet Interior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35" t="29673" r="8036" b="42460"/>
          <a:stretch/>
        </p:blipFill>
        <p:spPr bwMode="auto">
          <a:xfrm>
            <a:off x="6705600" y="2060848"/>
            <a:ext cx="2269888" cy="1579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9110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0"/>
            <a:ext cx="6635080" cy="1600200"/>
          </a:xfrm>
        </p:spPr>
        <p:txBody>
          <a:bodyPr>
            <a:normAutofit/>
          </a:bodyPr>
          <a:lstStyle/>
          <a:p>
            <a:r>
              <a:rPr lang="es-ES" b="1" dirty="0" smtClean="0"/>
              <a:t>Cable de Fibra Óptica</a:t>
            </a:r>
            <a:br>
              <a:rPr lang="es-ES" b="1" dirty="0" smtClean="0"/>
            </a:b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ES" b="1" dirty="0" smtClean="0"/>
              <a:t>Tipo</a:t>
            </a:r>
            <a:r>
              <a:rPr lang="es-ES" dirty="0" smtClean="0"/>
              <a:t>: Utiliza fibras de vidrio o plástico para transmitir datos como pulsos de luz.</a:t>
            </a:r>
          </a:p>
          <a:p>
            <a:r>
              <a:rPr lang="es-ES" b="1" dirty="0" smtClean="0"/>
              <a:t>Tipos</a:t>
            </a:r>
            <a:r>
              <a:rPr lang="es-ES" dirty="0" smtClean="0"/>
              <a:t>:</a:t>
            </a:r>
          </a:p>
          <a:p>
            <a:pPr lvl="1"/>
            <a:r>
              <a:rPr lang="es-ES" b="1" dirty="0" smtClean="0"/>
              <a:t>Fibra </a:t>
            </a:r>
            <a:r>
              <a:rPr lang="es-ES" b="1" dirty="0" err="1" smtClean="0"/>
              <a:t>monomodo</a:t>
            </a:r>
            <a:r>
              <a:rPr lang="es-ES" dirty="0" smtClean="0"/>
              <a:t>: Permite la transmisión a largas distancias (hasta 100 km o más) con un solo haz de luz.</a:t>
            </a:r>
          </a:p>
          <a:p>
            <a:pPr lvl="1"/>
            <a:r>
              <a:rPr lang="es-ES" b="1" dirty="0" smtClean="0"/>
              <a:t>Fibra </a:t>
            </a:r>
            <a:r>
              <a:rPr lang="es-ES" b="1" dirty="0" err="1" smtClean="0"/>
              <a:t>multimodo</a:t>
            </a:r>
            <a:r>
              <a:rPr lang="es-ES" dirty="0" smtClean="0"/>
              <a:t>: Adecuada para distancias más cortas (hasta 300-400 metros) y usa múltiples haces de luz.</a:t>
            </a:r>
          </a:p>
          <a:p>
            <a:r>
              <a:rPr lang="es-ES" b="1" dirty="0" smtClean="0"/>
              <a:t>Uso</a:t>
            </a:r>
            <a:r>
              <a:rPr lang="es-ES" dirty="0" smtClean="0"/>
              <a:t>: Ideal para conexiones de alta velocidad y largas distancias, como en redes empresariales y conexiones de Internet de alta capacidad.</a:t>
            </a:r>
          </a:p>
          <a:p>
            <a:endParaRPr lang="es-A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45" t="30356" r="7737" b="35914"/>
          <a:stretch/>
        </p:blipFill>
        <p:spPr bwMode="auto">
          <a:xfrm>
            <a:off x="7092280" y="0"/>
            <a:ext cx="1835696" cy="1600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4301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1600200"/>
          </a:xfrm>
        </p:spPr>
        <p:txBody>
          <a:bodyPr>
            <a:normAutofit fontScale="90000"/>
          </a:bodyPr>
          <a:lstStyle/>
          <a:p>
            <a:r>
              <a:rPr lang="es-ES" b="1" dirty="0" smtClean="0"/>
              <a:t>Configuraciones de Conexión (T568A y T568B)</a:t>
            </a:r>
            <a:br>
              <a:rPr lang="es-ES" b="1" dirty="0" smtClean="0"/>
            </a:b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412776"/>
            <a:ext cx="8229600" cy="4525963"/>
          </a:xfrm>
        </p:spPr>
        <p:txBody>
          <a:bodyPr>
            <a:noAutofit/>
          </a:bodyPr>
          <a:lstStyle/>
          <a:p>
            <a:r>
              <a:rPr lang="es-ES" sz="1600" b="1" dirty="0" smtClean="0"/>
              <a:t>Al armar un cable de par trenzado, es crucial seguir uno de los estándares de terminación:</a:t>
            </a:r>
          </a:p>
          <a:p>
            <a:r>
              <a:rPr lang="es-ES" sz="1600" b="1" dirty="0" smtClean="0"/>
              <a:t>T568A:</a:t>
            </a:r>
          </a:p>
          <a:p>
            <a:pPr lvl="1"/>
            <a:r>
              <a:rPr lang="es-ES" sz="1400" b="1" dirty="0" smtClean="0"/>
              <a:t>Pin 1: Blanco/Verde</a:t>
            </a:r>
          </a:p>
          <a:p>
            <a:pPr lvl="1"/>
            <a:r>
              <a:rPr lang="es-ES" sz="1400" b="1" dirty="0" smtClean="0"/>
              <a:t>Pin 2: Verde</a:t>
            </a:r>
          </a:p>
          <a:p>
            <a:pPr lvl="1"/>
            <a:r>
              <a:rPr lang="es-ES" sz="1400" b="1" dirty="0" smtClean="0"/>
              <a:t>Pin 3: Blanco/Naranja</a:t>
            </a:r>
          </a:p>
          <a:p>
            <a:pPr lvl="1"/>
            <a:r>
              <a:rPr lang="es-ES" sz="1400" b="1" dirty="0" smtClean="0"/>
              <a:t>Pin 4: Azul</a:t>
            </a:r>
          </a:p>
          <a:p>
            <a:pPr lvl="1"/>
            <a:r>
              <a:rPr lang="es-ES" sz="1400" b="1" dirty="0" smtClean="0"/>
              <a:t>Pin 5: Blanco/Azul</a:t>
            </a:r>
          </a:p>
          <a:p>
            <a:pPr lvl="1"/>
            <a:r>
              <a:rPr lang="es-ES" sz="1400" b="1" dirty="0" smtClean="0"/>
              <a:t>Pin 6: Naranja</a:t>
            </a:r>
          </a:p>
          <a:p>
            <a:pPr lvl="1"/>
            <a:r>
              <a:rPr lang="es-ES" sz="1400" b="1" dirty="0" smtClean="0"/>
              <a:t>Pin 7: Blanco/Marrón</a:t>
            </a:r>
          </a:p>
          <a:p>
            <a:pPr lvl="1"/>
            <a:r>
              <a:rPr lang="es-ES" sz="1400" b="1" dirty="0" smtClean="0"/>
              <a:t>Pin 8: Marrón</a:t>
            </a:r>
          </a:p>
          <a:p>
            <a:r>
              <a:rPr lang="es-ES" sz="1600" b="1" dirty="0" smtClean="0"/>
              <a:t>T568B:</a:t>
            </a:r>
          </a:p>
          <a:p>
            <a:pPr lvl="1"/>
            <a:r>
              <a:rPr lang="es-ES" sz="1400" b="1" dirty="0" smtClean="0"/>
              <a:t>Pin 1: Blanco/Naranja</a:t>
            </a:r>
          </a:p>
          <a:p>
            <a:pPr lvl="1"/>
            <a:r>
              <a:rPr lang="es-ES" sz="1400" b="1" dirty="0" smtClean="0"/>
              <a:t>Pin 2: Naranja</a:t>
            </a:r>
          </a:p>
          <a:p>
            <a:pPr lvl="1"/>
            <a:r>
              <a:rPr lang="es-ES" sz="1400" b="1" dirty="0" smtClean="0"/>
              <a:t>Pin 3: Blanco/Verde</a:t>
            </a:r>
          </a:p>
          <a:p>
            <a:pPr lvl="1"/>
            <a:r>
              <a:rPr lang="es-ES" sz="1400" b="1" dirty="0" smtClean="0"/>
              <a:t>Pin 4: Azul</a:t>
            </a:r>
          </a:p>
          <a:p>
            <a:pPr lvl="1"/>
            <a:r>
              <a:rPr lang="es-ES" sz="1400" b="1" dirty="0" smtClean="0"/>
              <a:t>Pin 5: Blanco/Azul</a:t>
            </a:r>
          </a:p>
          <a:p>
            <a:pPr lvl="1"/>
            <a:r>
              <a:rPr lang="es-ES" sz="1400" b="1" dirty="0" smtClean="0"/>
              <a:t>Pin 6: Verde</a:t>
            </a:r>
          </a:p>
          <a:p>
            <a:pPr lvl="1"/>
            <a:r>
              <a:rPr lang="es-ES" sz="1400" b="1" dirty="0" smtClean="0"/>
              <a:t>Pin 7: Blanco/Marrón</a:t>
            </a:r>
          </a:p>
          <a:p>
            <a:pPr lvl="1"/>
            <a:r>
              <a:rPr lang="es-ES" sz="1400" b="1" dirty="0" smtClean="0"/>
              <a:t>Pin 8: Marrón</a:t>
            </a:r>
          </a:p>
          <a:p>
            <a:endParaRPr lang="es-AR" sz="16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6" t="29763" r="27679" b="22618"/>
          <a:stretch/>
        </p:blipFill>
        <p:spPr bwMode="auto">
          <a:xfrm>
            <a:off x="4139953" y="2636912"/>
            <a:ext cx="3797024" cy="3058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1082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0"/>
            <a:ext cx="6491064" cy="1600200"/>
          </a:xfrm>
        </p:spPr>
        <p:txBody>
          <a:bodyPr>
            <a:normAutofit/>
          </a:bodyPr>
          <a:lstStyle/>
          <a:p>
            <a:r>
              <a:rPr lang="es-ES" dirty="0" smtClean="0"/>
              <a:t>Herramientas </a:t>
            </a:r>
            <a:br>
              <a:rPr lang="es-ES" dirty="0" smtClean="0"/>
            </a:br>
            <a:r>
              <a:rPr lang="es-ES" dirty="0" smtClean="0"/>
              <a:t>para cable de cobre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b="1" dirty="0" err="1" smtClean="0"/>
              <a:t>Crimpadora</a:t>
            </a:r>
            <a:r>
              <a:rPr lang="es-ES" b="1" dirty="0" smtClean="0"/>
              <a:t> (o Engarzadora)</a:t>
            </a:r>
          </a:p>
          <a:p>
            <a:pPr lvl="1"/>
            <a:r>
              <a:rPr lang="es-ES" b="1" dirty="0" smtClean="0"/>
              <a:t>Descripción</a:t>
            </a:r>
            <a:r>
              <a:rPr lang="es-ES" dirty="0" smtClean="0"/>
              <a:t>: Herramienta que se utiliza para fijar conectores (como RJ-45) a los extremos de los cables.</a:t>
            </a:r>
          </a:p>
          <a:p>
            <a:pPr lvl="1"/>
            <a:r>
              <a:rPr lang="es-ES" b="1" dirty="0" smtClean="0"/>
              <a:t>Uso</a:t>
            </a:r>
            <a:r>
              <a:rPr lang="es-ES" dirty="0" smtClean="0"/>
              <a:t>: Asegúrate de que el conector esté correctamente engarzado para una buena conexión.</a:t>
            </a:r>
          </a:p>
          <a:p>
            <a:r>
              <a:rPr lang="es-ES" b="1" dirty="0" smtClean="0"/>
              <a:t>Probador de Cables</a:t>
            </a:r>
          </a:p>
          <a:p>
            <a:pPr lvl="1"/>
            <a:r>
              <a:rPr lang="es-ES" b="1" dirty="0" smtClean="0"/>
              <a:t>Descripción</a:t>
            </a:r>
            <a:r>
              <a:rPr lang="es-ES" dirty="0" smtClean="0"/>
              <a:t>: Herramienta que verifica la continuidad y el rendimiento del cable, detectando problemas como cortocircuitos o conexiones cruzadas.</a:t>
            </a:r>
          </a:p>
          <a:p>
            <a:pPr lvl="1"/>
            <a:r>
              <a:rPr lang="es-ES" b="1" dirty="0" smtClean="0"/>
              <a:t>Uso</a:t>
            </a:r>
            <a:r>
              <a:rPr lang="es-ES" dirty="0" smtClean="0"/>
              <a:t>: Utiliza antes de instalar cables para asegurar que funcionen correctamente.</a:t>
            </a:r>
          </a:p>
          <a:p>
            <a:pPr lvl="1"/>
            <a:endParaRPr lang="es-ES" dirty="0" smtClean="0"/>
          </a:p>
          <a:p>
            <a:endParaRPr lang="es-A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09" t="25397" r="26164" b="19842"/>
          <a:stretch/>
        </p:blipFill>
        <p:spPr bwMode="auto">
          <a:xfrm>
            <a:off x="6732240" y="188640"/>
            <a:ext cx="2160240" cy="1898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6858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Fibra Óptica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b="1" dirty="0" err="1" smtClean="0"/>
              <a:t>Crimpadora</a:t>
            </a:r>
            <a:r>
              <a:rPr lang="es-ES" b="1" dirty="0" smtClean="0"/>
              <a:t> para Conectores de Fibra</a:t>
            </a:r>
          </a:p>
          <a:p>
            <a:pPr lvl="1"/>
            <a:r>
              <a:rPr lang="es-ES" b="1" dirty="0" smtClean="0"/>
              <a:t>Descripción</a:t>
            </a:r>
            <a:r>
              <a:rPr lang="es-ES" dirty="0" smtClean="0"/>
              <a:t>: Utilizada para fijar conectores (como SC, LC, ST) a los extremos de los cables de fibra óptica.</a:t>
            </a:r>
          </a:p>
          <a:p>
            <a:pPr lvl="1"/>
            <a:r>
              <a:rPr lang="es-ES" b="1" dirty="0" smtClean="0"/>
              <a:t>Uso</a:t>
            </a:r>
            <a:r>
              <a:rPr lang="es-ES" dirty="0" smtClean="0"/>
              <a:t>: Asegura un contacto adecuado para una buena transmisión de datos.</a:t>
            </a:r>
          </a:p>
          <a:p>
            <a:r>
              <a:rPr lang="es-ES" b="1" dirty="0" smtClean="0"/>
              <a:t> Probador de Fibra Óptica</a:t>
            </a:r>
          </a:p>
          <a:p>
            <a:pPr lvl="1"/>
            <a:r>
              <a:rPr lang="es-ES" b="1" dirty="0" smtClean="0"/>
              <a:t>Descripción</a:t>
            </a:r>
            <a:r>
              <a:rPr lang="es-ES" dirty="0" smtClean="0"/>
              <a:t>: Herramienta que mide la pérdida de señal y verifica la continuidad en cables de fibra.</a:t>
            </a:r>
          </a:p>
          <a:p>
            <a:pPr lvl="1"/>
            <a:r>
              <a:rPr lang="es-ES" b="1" dirty="0" smtClean="0"/>
              <a:t>Uso</a:t>
            </a:r>
            <a:r>
              <a:rPr lang="es-ES" dirty="0" smtClean="0"/>
              <a:t>: Asegura que el cable funcione correctamente y que no haya pérdidas excesivas.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530535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 smtClean="0"/>
              <a:t>Redes inalámbricas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Las </a:t>
            </a:r>
            <a:r>
              <a:rPr lang="es-ES" b="1" dirty="0" smtClean="0"/>
              <a:t>redes inalámbricas</a:t>
            </a:r>
            <a:r>
              <a:rPr lang="es-ES" dirty="0" smtClean="0"/>
              <a:t> son sistemas de comunicación que permiten la transmisión de datos sin necesidad de cables físicos. Utilizan ondas de radio, infrarrojos u otras tecnologías para conectar dispositivos. 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016178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600200"/>
          </a:xfrm>
        </p:spPr>
        <p:txBody>
          <a:bodyPr>
            <a:normAutofit/>
          </a:bodyPr>
          <a:lstStyle/>
          <a:p>
            <a:r>
              <a:rPr lang="es-ES" b="1" dirty="0" smtClean="0"/>
              <a:t>Tipos de Redes Inalámbricas</a:t>
            </a:r>
            <a:br>
              <a:rPr lang="es-ES" b="1" dirty="0" smtClean="0"/>
            </a:b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ES" b="1" dirty="0" smtClean="0"/>
              <a:t>WLAN (</a:t>
            </a:r>
            <a:r>
              <a:rPr lang="es-ES" b="1" dirty="0" err="1" smtClean="0"/>
              <a:t>Wireless</a:t>
            </a:r>
            <a:r>
              <a:rPr lang="es-ES" b="1" dirty="0" smtClean="0"/>
              <a:t> Local </a:t>
            </a:r>
            <a:r>
              <a:rPr lang="es-ES" b="1" dirty="0" err="1" smtClean="0"/>
              <a:t>Area</a:t>
            </a:r>
            <a:r>
              <a:rPr lang="es-ES" b="1" dirty="0" smtClean="0"/>
              <a:t> Network)</a:t>
            </a:r>
            <a:r>
              <a:rPr lang="es-ES" dirty="0" smtClean="0"/>
              <a:t>: Redes locales que permiten la conexión de dispositivos en un área limitada, como una oficina o un hogar. Un ejemplo común es la tecnología </a:t>
            </a:r>
            <a:r>
              <a:rPr lang="es-ES" dirty="0" err="1" smtClean="0"/>
              <a:t>Wi</a:t>
            </a:r>
            <a:r>
              <a:rPr lang="es-ES" dirty="0" smtClean="0"/>
              <a:t>-Fi.</a:t>
            </a:r>
          </a:p>
          <a:p>
            <a:r>
              <a:rPr lang="es-ES" b="1" dirty="0" smtClean="0"/>
              <a:t>WPAN (</a:t>
            </a:r>
            <a:r>
              <a:rPr lang="es-ES" b="1" dirty="0" err="1" smtClean="0"/>
              <a:t>Wireless</a:t>
            </a:r>
            <a:r>
              <a:rPr lang="es-ES" b="1" dirty="0" smtClean="0"/>
              <a:t> Personal </a:t>
            </a:r>
            <a:r>
              <a:rPr lang="es-ES" b="1" dirty="0" err="1" smtClean="0"/>
              <a:t>Area</a:t>
            </a:r>
            <a:r>
              <a:rPr lang="es-ES" b="1" dirty="0" smtClean="0"/>
              <a:t> Network)</a:t>
            </a:r>
            <a:r>
              <a:rPr lang="es-ES" dirty="0" smtClean="0"/>
              <a:t>: Redes que conectan dispositivos personales en un área pequeña, como Bluetooth, que permite la conexión entre teléfonos móviles, auriculares y otros dispositivos.</a:t>
            </a:r>
          </a:p>
          <a:p>
            <a:r>
              <a:rPr lang="es-ES" b="1" dirty="0" smtClean="0"/>
              <a:t>WWAN (</a:t>
            </a:r>
            <a:r>
              <a:rPr lang="es-ES" b="1" dirty="0" err="1" smtClean="0"/>
              <a:t>Wireless</a:t>
            </a:r>
            <a:r>
              <a:rPr lang="es-ES" b="1" dirty="0" smtClean="0"/>
              <a:t> Wide </a:t>
            </a:r>
            <a:r>
              <a:rPr lang="es-ES" b="1" dirty="0" err="1" smtClean="0"/>
              <a:t>Area</a:t>
            </a:r>
            <a:r>
              <a:rPr lang="es-ES" b="1" dirty="0" smtClean="0"/>
              <a:t> Network)</a:t>
            </a:r>
            <a:r>
              <a:rPr lang="es-ES" dirty="0" smtClean="0"/>
              <a:t>: Redes que proporcionan conectividad a través de áreas más amplias, como las que ofrecen las operadoras móviles para teléfonos inteligentes </a:t>
            </a:r>
          </a:p>
          <a:p>
            <a:r>
              <a:rPr lang="es-ES" b="1" dirty="0" smtClean="0"/>
              <a:t>WMAN (</a:t>
            </a:r>
            <a:r>
              <a:rPr lang="es-ES" b="1" dirty="0" err="1" smtClean="0"/>
              <a:t>Wireless</a:t>
            </a:r>
            <a:r>
              <a:rPr lang="es-ES" b="1" dirty="0" smtClean="0"/>
              <a:t> </a:t>
            </a:r>
            <a:r>
              <a:rPr lang="es-ES" b="1" dirty="0" err="1" smtClean="0"/>
              <a:t>Metropolitan</a:t>
            </a:r>
            <a:r>
              <a:rPr lang="es-ES" b="1" dirty="0" smtClean="0"/>
              <a:t> </a:t>
            </a:r>
            <a:r>
              <a:rPr lang="es-ES" b="1" dirty="0" err="1" smtClean="0"/>
              <a:t>Area</a:t>
            </a:r>
            <a:r>
              <a:rPr lang="es-ES" b="1" dirty="0" smtClean="0"/>
              <a:t> Network)</a:t>
            </a:r>
            <a:r>
              <a:rPr lang="es-ES" dirty="0" smtClean="0"/>
              <a:t>: Redes que cubren áreas metropolitanas más grandes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132150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476672"/>
            <a:ext cx="8229600" cy="1600200"/>
          </a:xfrm>
        </p:spPr>
        <p:txBody>
          <a:bodyPr>
            <a:normAutofit/>
          </a:bodyPr>
          <a:lstStyle/>
          <a:p>
            <a:r>
              <a:rPr lang="es-ES" b="1" dirty="0" smtClean="0"/>
              <a:t>Estándares y Tecnologías Comunes</a:t>
            </a:r>
            <a:br>
              <a:rPr lang="es-ES" b="1" dirty="0" smtClean="0"/>
            </a:b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b="1" dirty="0" err="1" smtClean="0"/>
              <a:t>Wi</a:t>
            </a:r>
            <a:r>
              <a:rPr lang="es-ES" b="1" dirty="0" smtClean="0"/>
              <a:t>-Fi (IEEE 802.11)</a:t>
            </a:r>
            <a:r>
              <a:rPr lang="es-ES" dirty="0" smtClean="0"/>
              <a:t>: Conjunto de estándares para redes WLAN. Existen diferentes versiones, como 802.11n, 802.11ac y 802.11ax ,que ofrecen diferentes velocidades y capacidades.</a:t>
            </a:r>
          </a:p>
          <a:p>
            <a:r>
              <a:rPr lang="es-ES" b="1" dirty="0" smtClean="0"/>
              <a:t>Bluetooth</a:t>
            </a:r>
            <a:r>
              <a:rPr lang="es-ES" dirty="0" smtClean="0"/>
              <a:t>: Tecnología para la comunicación de corto alcance entre dispositivos, ideal para la conexión de accesorios como auriculares, teclados y ratones.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68486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 smtClean="0"/>
              <a:t>Ventajas de las Redes Inalámbricas</a:t>
            </a:r>
            <a:br>
              <a:rPr lang="es-ES" b="1" dirty="0" smtClean="0"/>
            </a:b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b="1" dirty="0" smtClean="0"/>
              <a:t>Flexibilidad</a:t>
            </a:r>
            <a:r>
              <a:rPr lang="es-ES" dirty="0" smtClean="0"/>
              <a:t>: Permiten la conexión de dispositivos en movimiento y la fácil reubicación de dispositivos sin necesidad de cableado.</a:t>
            </a:r>
          </a:p>
          <a:p>
            <a:r>
              <a:rPr lang="es-ES" b="1" dirty="0" smtClean="0"/>
              <a:t>Fácil instalación</a:t>
            </a:r>
            <a:r>
              <a:rPr lang="es-ES" dirty="0" smtClean="0"/>
              <a:t>: Menos infraestructura física y, a menudo, más fácil de configurar y escalar.</a:t>
            </a:r>
          </a:p>
          <a:p>
            <a:r>
              <a:rPr lang="es-ES" b="1" dirty="0" smtClean="0"/>
              <a:t>Acceso móvil</a:t>
            </a:r>
            <a:r>
              <a:rPr lang="es-ES" dirty="0" smtClean="0"/>
              <a:t>: Permiten la conectividad a dispositivos móviles en cualquier lugar dentro del área de cobertura.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662100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 smtClean="0"/>
              <a:t>Desventajas de las Redes Inalámbricas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s-ES" b="1" dirty="0" smtClean="0"/>
              <a:t>Interferencia</a:t>
            </a:r>
            <a:r>
              <a:rPr lang="es-ES" dirty="0" smtClean="0"/>
              <a:t>: Pueden verse afectadas por interferencias de otros dispositivos y obstáculos físicos, como paredes.</a:t>
            </a:r>
          </a:p>
          <a:p>
            <a:r>
              <a:rPr lang="es-ES" b="1" dirty="0" smtClean="0"/>
              <a:t>Seguridad</a:t>
            </a:r>
            <a:r>
              <a:rPr lang="es-ES" dirty="0" smtClean="0"/>
              <a:t>: Más susceptibles a ataques si no se implementan medidas de seguridad adecuadas, como cifrado WPA2/WPA3.</a:t>
            </a:r>
          </a:p>
          <a:p>
            <a:r>
              <a:rPr lang="es-ES" b="1" dirty="0" smtClean="0"/>
              <a:t>Rango limitado</a:t>
            </a:r>
            <a:r>
              <a:rPr lang="es-ES" dirty="0" smtClean="0"/>
              <a:t>: La cobertura puede ser inferior a la de las redes cableadas, especialmente en entornos grandes o con muchos obstáculos.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147979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Seguridad en Redes Inalámbricas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b="1" dirty="0" smtClean="0"/>
              <a:t>Cifrado</a:t>
            </a:r>
            <a:r>
              <a:rPr lang="es-ES" dirty="0" smtClean="0"/>
              <a:t>: Utilizar protocolos de seguridad como WPA2 o WPA3 para proteger la transmisión de datos.</a:t>
            </a:r>
          </a:p>
          <a:p>
            <a:r>
              <a:rPr lang="es-ES" b="1" dirty="0" smtClean="0"/>
              <a:t>Contraseñas Seguras</a:t>
            </a:r>
            <a:r>
              <a:rPr lang="es-ES" dirty="0" smtClean="0"/>
              <a:t>: Implementar contraseñas fuertes para acceder a la red.</a:t>
            </a:r>
          </a:p>
          <a:p>
            <a:r>
              <a:rPr lang="es-ES" b="1" dirty="0" smtClean="0"/>
              <a:t>Filtrado de MAC</a:t>
            </a:r>
            <a:r>
              <a:rPr lang="es-ES" dirty="0" smtClean="0"/>
              <a:t>: Permitir solo dispositivos específicos a la red mediante la lista de control de acceso basada en direcciones MAC.</a:t>
            </a:r>
          </a:p>
          <a:p>
            <a:r>
              <a:rPr lang="es-ES" b="1" dirty="0" smtClean="0"/>
              <a:t>Actualizaciones de Firmware</a:t>
            </a:r>
            <a:r>
              <a:rPr lang="es-ES" dirty="0" smtClean="0"/>
              <a:t>: Mantener actualizados los dispositivos para protegerse contra vulnerabilidades conocidas.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754685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Antenas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Las </a:t>
            </a:r>
            <a:r>
              <a:rPr lang="es-ES" b="1" dirty="0" smtClean="0"/>
              <a:t>antenas</a:t>
            </a:r>
            <a:r>
              <a:rPr lang="es-ES" dirty="0" smtClean="0"/>
              <a:t> son dispositivos clave en las redes inalámbricas, ya que permiten la transmisión y recepción de señales de radiofrecuencia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7820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-99392"/>
            <a:ext cx="8229600" cy="1143000"/>
          </a:xfrm>
        </p:spPr>
        <p:txBody>
          <a:bodyPr/>
          <a:lstStyle/>
          <a:p>
            <a:r>
              <a:rPr lang="es-ES" dirty="0" smtClean="0"/>
              <a:t>Tipos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51520" y="1052736"/>
            <a:ext cx="8229600" cy="4525963"/>
          </a:xfrm>
        </p:spPr>
        <p:txBody>
          <a:bodyPr>
            <a:noAutofit/>
          </a:bodyPr>
          <a:lstStyle/>
          <a:p>
            <a:r>
              <a:rPr lang="es-ES" sz="1800" b="1" dirty="0" smtClean="0"/>
              <a:t>Antenas Omnidireccionales</a:t>
            </a:r>
            <a:endParaRPr lang="es-ES" sz="1800" dirty="0" smtClean="0"/>
          </a:p>
          <a:p>
            <a:pPr lvl="1"/>
            <a:r>
              <a:rPr lang="es-ES" sz="1400" b="1" dirty="0" smtClean="0"/>
              <a:t>Descripción</a:t>
            </a:r>
            <a:r>
              <a:rPr lang="es-ES" sz="1400" dirty="0" smtClean="0"/>
              <a:t>: Radiación en todas las direcciones de manera uniforme en un plano horizontal.</a:t>
            </a:r>
          </a:p>
          <a:p>
            <a:pPr lvl="1"/>
            <a:r>
              <a:rPr lang="es-ES" sz="1400" b="1" dirty="0" smtClean="0"/>
              <a:t>Uso</a:t>
            </a:r>
            <a:r>
              <a:rPr lang="es-ES" sz="1400" dirty="0" smtClean="0"/>
              <a:t>: Ideales para cubrir áreas amplias, como en puntos de acceso </a:t>
            </a:r>
            <a:r>
              <a:rPr lang="es-ES" sz="1400" dirty="0" err="1" smtClean="0"/>
              <a:t>Wi</a:t>
            </a:r>
            <a:r>
              <a:rPr lang="es-ES" sz="1400" dirty="0" smtClean="0"/>
              <a:t>-Fi en hogares y oficinas.</a:t>
            </a:r>
          </a:p>
          <a:p>
            <a:pPr lvl="1"/>
            <a:r>
              <a:rPr lang="es-ES" sz="1400" b="1" dirty="0" smtClean="0"/>
              <a:t>Ejemplo</a:t>
            </a:r>
            <a:r>
              <a:rPr lang="es-ES" sz="1400" dirty="0" smtClean="0"/>
              <a:t>: Antenas de dipolo.</a:t>
            </a:r>
          </a:p>
          <a:p>
            <a:r>
              <a:rPr lang="es-ES" sz="1800" b="1" dirty="0" smtClean="0"/>
              <a:t>Antenas Direccionales</a:t>
            </a:r>
            <a:endParaRPr lang="es-ES" sz="1800" dirty="0" smtClean="0"/>
          </a:p>
          <a:p>
            <a:pPr lvl="1"/>
            <a:r>
              <a:rPr lang="es-ES" sz="1400" b="1" dirty="0" smtClean="0"/>
              <a:t>Descripción</a:t>
            </a:r>
            <a:r>
              <a:rPr lang="es-ES" sz="1400" dirty="0" smtClean="0"/>
              <a:t>: Enfocan la señal en una dirección específica, aumentando el alcance y la intensidad en esa dirección.</a:t>
            </a:r>
          </a:p>
          <a:p>
            <a:pPr lvl="1"/>
            <a:r>
              <a:rPr lang="es-ES" sz="1400" b="1" dirty="0" smtClean="0"/>
              <a:t>Uso</a:t>
            </a:r>
            <a:r>
              <a:rPr lang="es-ES" sz="1400" dirty="0" smtClean="0"/>
              <a:t>: Utilizadas para conexiones de larga distancia, como enlaces entre edificios.</a:t>
            </a:r>
          </a:p>
          <a:p>
            <a:pPr lvl="1"/>
            <a:r>
              <a:rPr lang="es-ES" sz="1400" b="1" dirty="0" smtClean="0"/>
              <a:t>Ejemplo</a:t>
            </a:r>
            <a:r>
              <a:rPr lang="es-ES" sz="1400" dirty="0" smtClean="0"/>
              <a:t>: Antenas </a:t>
            </a:r>
            <a:r>
              <a:rPr lang="es-ES" sz="1400" dirty="0" err="1" smtClean="0"/>
              <a:t>Yagi</a:t>
            </a:r>
            <a:r>
              <a:rPr lang="es-ES" sz="1400" dirty="0" smtClean="0"/>
              <a:t>, antenas parabólicas.</a:t>
            </a:r>
          </a:p>
          <a:p>
            <a:r>
              <a:rPr lang="es-ES" sz="1800" b="1" dirty="0" smtClean="0"/>
              <a:t>Antenas Sectoriales</a:t>
            </a:r>
            <a:endParaRPr lang="es-ES" sz="1800" dirty="0" smtClean="0"/>
          </a:p>
          <a:p>
            <a:pPr lvl="1"/>
            <a:r>
              <a:rPr lang="es-ES" sz="1400" b="1" dirty="0" smtClean="0"/>
              <a:t>Descripción</a:t>
            </a:r>
            <a:r>
              <a:rPr lang="es-ES" sz="1400" dirty="0" smtClean="0"/>
              <a:t>: Proporcionan cobertura en un sector específico (por ejemplo, 60°, 90°, 120°).</a:t>
            </a:r>
          </a:p>
          <a:p>
            <a:pPr lvl="1"/>
            <a:r>
              <a:rPr lang="es-ES" sz="1400" b="1" dirty="0" smtClean="0"/>
              <a:t>Uso</a:t>
            </a:r>
            <a:r>
              <a:rPr lang="es-ES" sz="1400" dirty="0" smtClean="0"/>
              <a:t>: Común en redes celulares y </a:t>
            </a:r>
            <a:r>
              <a:rPr lang="es-ES" sz="1400" dirty="0" err="1" smtClean="0"/>
              <a:t>Wi</a:t>
            </a:r>
            <a:r>
              <a:rPr lang="es-ES" sz="1400" dirty="0" smtClean="0"/>
              <a:t>-Fi para cubrir áreas específicas en entornos densos.</a:t>
            </a:r>
          </a:p>
          <a:p>
            <a:r>
              <a:rPr lang="es-ES" sz="1800" b="1" dirty="0" smtClean="0"/>
              <a:t>Antenas MIMO (</a:t>
            </a:r>
            <a:r>
              <a:rPr lang="es-ES" sz="1800" b="1" dirty="0" err="1" smtClean="0"/>
              <a:t>Multiple</a:t>
            </a:r>
            <a:r>
              <a:rPr lang="es-ES" sz="1800" b="1" dirty="0" smtClean="0"/>
              <a:t> Input </a:t>
            </a:r>
            <a:r>
              <a:rPr lang="es-ES" sz="1800" b="1" dirty="0" err="1" smtClean="0"/>
              <a:t>Multiple</a:t>
            </a:r>
            <a:r>
              <a:rPr lang="es-ES" sz="1800" b="1" dirty="0" smtClean="0"/>
              <a:t> Output)</a:t>
            </a:r>
            <a:endParaRPr lang="es-ES" sz="1800" dirty="0" smtClean="0"/>
          </a:p>
          <a:p>
            <a:pPr lvl="1"/>
            <a:r>
              <a:rPr lang="es-ES" sz="1400" b="1" dirty="0" smtClean="0"/>
              <a:t>Descripción</a:t>
            </a:r>
            <a:r>
              <a:rPr lang="es-ES" sz="1400" dirty="0" smtClean="0"/>
              <a:t>: Utilizan múltiples transmisores y receptores para mejorar la capacidad y la eficiencia de la transmisión de datos.</a:t>
            </a:r>
          </a:p>
          <a:p>
            <a:pPr lvl="1"/>
            <a:r>
              <a:rPr lang="es-ES" sz="1400" b="1" dirty="0" smtClean="0"/>
              <a:t>Uso</a:t>
            </a:r>
            <a:r>
              <a:rPr lang="es-ES" sz="1400" dirty="0" smtClean="0"/>
              <a:t>: Común en tecnologías como </a:t>
            </a:r>
            <a:r>
              <a:rPr lang="es-ES" sz="1400" dirty="0" err="1" smtClean="0"/>
              <a:t>Wi</a:t>
            </a:r>
            <a:r>
              <a:rPr lang="es-ES" sz="1400" dirty="0" smtClean="0"/>
              <a:t>-Fi 5 y </a:t>
            </a:r>
            <a:r>
              <a:rPr lang="es-ES" sz="1400" dirty="0" err="1" smtClean="0"/>
              <a:t>Wi</a:t>
            </a:r>
            <a:r>
              <a:rPr lang="es-ES" sz="1400" dirty="0" smtClean="0"/>
              <a:t>-Fi 6 para aumentar el rendimiento en entornos congestionados.</a:t>
            </a:r>
          </a:p>
          <a:p>
            <a:endParaRPr lang="es-AR" sz="1800" dirty="0"/>
          </a:p>
        </p:txBody>
      </p:sp>
    </p:spTree>
    <p:extLst>
      <p:ext uri="{BB962C8B-B14F-4D97-AF65-F5344CB8AC3E}">
        <p14:creationId xmlns:p14="http://schemas.microsoft.com/office/powerpoint/2010/main" val="2325690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Dispositivos </a:t>
            </a:r>
            <a:r>
              <a:rPr lang="es-ES" dirty="0" err="1" smtClean="0"/>
              <a:t>Wifi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Los dispositivos </a:t>
            </a:r>
            <a:r>
              <a:rPr lang="es-ES" dirty="0" err="1" smtClean="0"/>
              <a:t>Wi</a:t>
            </a:r>
            <a:r>
              <a:rPr lang="es-ES" dirty="0" smtClean="0"/>
              <a:t>-Fi son esenciales para establecer y gestionar conexiones inalámbricas en redes locales.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716905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Dispositivos </a:t>
            </a:r>
            <a:r>
              <a:rPr lang="es-ES" dirty="0" err="1" smtClean="0"/>
              <a:t>Wifi</a:t>
            </a:r>
            <a:r>
              <a:rPr lang="es-ES" dirty="0" smtClean="0"/>
              <a:t> I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s-ES" b="1" dirty="0" smtClean="0"/>
              <a:t>Puntos de Acceso (Access </a:t>
            </a:r>
            <a:r>
              <a:rPr lang="es-ES" b="1" dirty="0" err="1" smtClean="0"/>
              <a:t>Points</a:t>
            </a:r>
            <a:r>
              <a:rPr lang="es-ES" b="1" dirty="0" smtClean="0"/>
              <a:t> - AP)</a:t>
            </a:r>
          </a:p>
          <a:p>
            <a:pPr lvl="1"/>
            <a:r>
              <a:rPr lang="es-ES" b="1" dirty="0" smtClean="0"/>
              <a:t>Descripción</a:t>
            </a:r>
            <a:r>
              <a:rPr lang="es-ES" dirty="0" smtClean="0"/>
              <a:t>: Dispositivos que permiten la conexión de dispositivos inalámbricos a una red cableada.</a:t>
            </a:r>
          </a:p>
          <a:p>
            <a:pPr lvl="1"/>
            <a:r>
              <a:rPr lang="es-ES" b="1" dirty="0" smtClean="0"/>
              <a:t>Uso</a:t>
            </a:r>
            <a:r>
              <a:rPr lang="es-ES" dirty="0" smtClean="0"/>
              <a:t>: Se utilizan en entornos empresariales y públicos para extender la cobertura de la red y conectar múltiples dispositivos.</a:t>
            </a:r>
          </a:p>
          <a:p>
            <a:r>
              <a:rPr lang="es-ES" b="1" dirty="0" err="1" smtClean="0"/>
              <a:t>Routers</a:t>
            </a:r>
            <a:r>
              <a:rPr lang="es-ES" b="1" dirty="0" smtClean="0"/>
              <a:t> Inalámbricos</a:t>
            </a:r>
          </a:p>
          <a:p>
            <a:pPr lvl="1"/>
            <a:r>
              <a:rPr lang="es-ES" b="1" dirty="0" smtClean="0"/>
              <a:t>Descripción</a:t>
            </a:r>
            <a:r>
              <a:rPr lang="es-ES" dirty="0" smtClean="0"/>
              <a:t>: Dispositivos que combinan funciones de enrutador y punto de acceso.</a:t>
            </a:r>
          </a:p>
          <a:p>
            <a:pPr lvl="1"/>
            <a:r>
              <a:rPr lang="es-ES" b="1" dirty="0" smtClean="0"/>
              <a:t>Uso</a:t>
            </a:r>
            <a:r>
              <a:rPr lang="es-ES" dirty="0" smtClean="0"/>
              <a:t>: Conectan redes locales a Internet y permiten la conexión de dispositivos inalámbricos, gestionando el tráfico de datos.</a:t>
            </a:r>
          </a:p>
          <a:p>
            <a:r>
              <a:rPr lang="es-ES" b="1" dirty="0" smtClean="0"/>
              <a:t>Repetidores (o Extensores de Rango)</a:t>
            </a:r>
          </a:p>
          <a:p>
            <a:pPr lvl="1"/>
            <a:r>
              <a:rPr lang="es-ES" b="1" dirty="0" smtClean="0"/>
              <a:t>Descripción</a:t>
            </a:r>
            <a:r>
              <a:rPr lang="es-ES" dirty="0" smtClean="0"/>
              <a:t>: Dispositivos que reciben y retransmiten la señal </a:t>
            </a:r>
            <a:r>
              <a:rPr lang="es-ES" dirty="0" err="1" smtClean="0"/>
              <a:t>Wi</a:t>
            </a:r>
            <a:r>
              <a:rPr lang="es-ES" dirty="0" smtClean="0"/>
              <a:t>-Fi para ampliar la cobertura de la red.</a:t>
            </a:r>
          </a:p>
          <a:p>
            <a:pPr lvl="1"/>
            <a:r>
              <a:rPr lang="es-ES" b="1" dirty="0" smtClean="0"/>
              <a:t>Uso</a:t>
            </a:r>
            <a:r>
              <a:rPr lang="es-ES" dirty="0" smtClean="0"/>
              <a:t>: Ideales para áreas donde la señal es débil o para cubrir puntos ciegos en el hogar o la oficina.</a:t>
            </a:r>
          </a:p>
          <a:p>
            <a:r>
              <a:rPr lang="es-ES" b="1" dirty="0" smtClean="0"/>
              <a:t>Puentes Inalámbricos</a:t>
            </a:r>
          </a:p>
          <a:p>
            <a:pPr lvl="1"/>
            <a:r>
              <a:rPr lang="es-ES" b="1" dirty="0" smtClean="0"/>
              <a:t>Descripción</a:t>
            </a:r>
            <a:r>
              <a:rPr lang="es-ES" dirty="0" smtClean="0"/>
              <a:t>: Dispositivos que conectan redes diferentes a través de una conexión inalámbrica, actuando como un enlace entre dos redes.</a:t>
            </a:r>
          </a:p>
          <a:p>
            <a:pPr lvl="1"/>
            <a:r>
              <a:rPr lang="es-ES" b="1" dirty="0" smtClean="0"/>
              <a:t>Uso</a:t>
            </a:r>
            <a:r>
              <a:rPr lang="es-ES" dirty="0" smtClean="0"/>
              <a:t>: Útiles para extender una red a edificios o áreas que están lejos de la red principal.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399894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800" dirty="0" smtClean="0"/>
              <a:t>Configurar un </a:t>
            </a:r>
            <a:r>
              <a:rPr lang="es-ES" sz="4800" dirty="0" err="1" smtClean="0"/>
              <a:t>router</a:t>
            </a:r>
            <a:r>
              <a:rPr lang="es-ES" sz="4800" dirty="0" smtClean="0"/>
              <a:t> </a:t>
            </a:r>
            <a:r>
              <a:rPr lang="es-ES" sz="4800" dirty="0" err="1" smtClean="0"/>
              <a:t>Wi</a:t>
            </a:r>
            <a:r>
              <a:rPr lang="es-ES" sz="4800" dirty="0" smtClean="0"/>
              <a:t>-Fi I</a:t>
            </a:r>
            <a:endParaRPr lang="es-AR" sz="48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844824"/>
            <a:ext cx="8229600" cy="4525963"/>
          </a:xfrm>
        </p:spPr>
        <p:txBody>
          <a:bodyPr>
            <a:normAutofit/>
          </a:bodyPr>
          <a:lstStyle/>
          <a:p>
            <a:r>
              <a:rPr lang="es-ES" sz="3600" b="1" dirty="0" smtClean="0"/>
              <a:t>Conectar el Hardware</a:t>
            </a:r>
          </a:p>
          <a:p>
            <a:pPr lvl="1"/>
            <a:r>
              <a:rPr lang="es-ES" sz="2400" b="1" dirty="0" smtClean="0"/>
              <a:t>Conectar el </a:t>
            </a:r>
            <a:r>
              <a:rPr lang="es-ES" sz="2400" b="1" dirty="0" err="1" smtClean="0"/>
              <a:t>Router</a:t>
            </a:r>
            <a:r>
              <a:rPr lang="es-ES" sz="2400" dirty="0" smtClean="0"/>
              <a:t>: Conecta el </a:t>
            </a:r>
            <a:r>
              <a:rPr lang="es-ES" sz="2400" dirty="0" err="1" smtClean="0"/>
              <a:t>router</a:t>
            </a:r>
            <a:r>
              <a:rPr lang="es-ES" sz="2400" dirty="0" smtClean="0"/>
              <a:t> a la toma de corriente y enciéndelo.</a:t>
            </a:r>
          </a:p>
          <a:p>
            <a:pPr lvl="1"/>
            <a:r>
              <a:rPr lang="es-ES" sz="2400" b="1" dirty="0" smtClean="0"/>
              <a:t>Conectar al Módem</a:t>
            </a:r>
            <a:r>
              <a:rPr lang="es-ES" sz="2400" dirty="0" smtClean="0"/>
              <a:t>: Usa un cable Ethernet para conectar el puerto WAN del </a:t>
            </a:r>
            <a:r>
              <a:rPr lang="es-ES" sz="2400" dirty="0" err="1" smtClean="0"/>
              <a:t>router</a:t>
            </a:r>
            <a:r>
              <a:rPr lang="es-ES" sz="2400" dirty="0" smtClean="0"/>
              <a:t> al puerto Ethernet del módem.</a:t>
            </a:r>
          </a:p>
          <a:p>
            <a:pPr lvl="1"/>
            <a:r>
              <a:rPr lang="es-ES" sz="2400" b="1" dirty="0" smtClean="0"/>
              <a:t>Conectar Dispositivos</a:t>
            </a:r>
            <a:r>
              <a:rPr lang="es-ES" sz="2400" dirty="0" smtClean="0"/>
              <a:t>: Si deseas, conecta tu computadora al </a:t>
            </a:r>
            <a:r>
              <a:rPr lang="es-ES" sz="2400" dirty="0" err="1" smtClean="0"/>
              <a:t>router</a:t>
            </a:r>
            <a:r>
              <a:rPr lang="es-ES" sz="2400" dirty="0" smtClean="0"/>
              <a:t> mediante otro cable Ethernet en uno de los puertos LAN.</a:t>
            </a:r>
          </a:p>
          <a:p>
            <a:endParaRPr lang="es-AR" sz="3600" dirty="0"/>
          </a:p>
        </p:txBody>
      </p:sp>
    </p:spTree>
    <p:extLst>
      <p:ext uri="{BB962C8B-B14F-4D97-AF65-F5344CB8AC3E}">
        <p14:creationId xmlns:p14="http://schemas.microsoft.com/office/powerpoint/2010/main" val="2960818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Configurar un </a:t>
            </a:r>
            <a:r>
              <a:rPr lang="es-ES" dirty="0" err="1" smtClean="0"/>
              <a:t>router</a:t>
            </a:r>
            <a:r>
              <a:rPr lang="es-ES" dirty="0" smtClean="0"/>
              <a:t> </a:t>
            </a:r>
            <a:r>
              <a:rPr lang="es-ES" dirty="0" err="1" smtClean="0"/>
              <a:t>Wi</a:t>
            </a:r>
            <a:r>
              <a:rPr lang="es-ES" dirty="0" smtClean="0"/>
              <a:t>-Fi II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b="1" dirty="0" smtClean="0"/>
              <a:t>Acceder a la Interfaz de Configuración</a:t>
            </a:r>
          </a:p>
          <a:p>
            <a:pPr lvl="1"/>
            <a:r>
              <a:rPr lang="es-ES" b="1" dirty="0" smtClean="0"/>
              <a:t>Conectar a la Red</a:t>
            </a:r>
            <a:r>
              <a:rPr lang="es-ES" dirty="0" smtClean="0"/>
              <a:t>: Conéctate a la red </a:t>
            </a:r>
            <a:r>
              <a:rPr lang="es-ES" dirty="0" err="1" smtClean="0"/>
              <a:t>Wi</a:t>
            </a:r>
            <a:r>
              <a:rPr lang="es-ES" dirty="0" smtClean="0"/>
              <a:t>-Fi del </a:t>
            </a:r>
            <a:r>
              <a:rPr lang="es-ES" dirty="0" err="1" smtClean="0"/>
              <a:t>router</a:t>
            </a:r>
            <a:r>
              <a:rPr lang="es-ES" dirty="0" smtClean="0"/>
              <a:t> (normalmente tiene un nombre predeterminado que aparece en la etiqueta del </a:t>
            </a:r>
            <a:r>
              <a:rPr lang="es-ES" dirty="0" err="1" smtClean="0"/>
              <a:t>router</a:t>
            </a:r>
            <a:r>
              <a:rPr lang="es-ES" dirty="0" smtClean="0"/>
              <a:t>) o mediante el cable Ethernet.</a:t>
            </a:r>
          </a:p>
          <a:p>
            <a:pPr lvl="1"/>
            <a:r>
              <a:rPr lang="es-ES" b="1" dirty="0" smtClean="0"/>
              <a:t>Abrir un Navegador</a:t>
            </a:r>
            <a:r>
              <a:rPr lang="es-ES" dirty="0" smtClean="0"/>
              <a:t>: Inicia un navegador web en tu computadora.</a:t>
            </a:r>
          </a:p>
          <a:p>
            <a:pPr lvl="1"/>
            <a:r>
              <a:rPr lang="es-ES" b="1" dirty="0" smtClean="0"/>
              <a:t>Introducir la IP del </a:t>
            </a:r>
            <a:r>
              <a:rPr lang="es-ES" b="1" dirty="0" err="1" smtClean="0"/>
              <a:t>Router</a:t>
            </a:r>
            <a:r>
              <a:rPr lang="es-ES" dirty="0" smtClean="0"/>
              <a:t>: Escribe la dirección IP del </a:t>
            </a:r>
            <a:r>
              <a:rPr lang="es-ES" dirty="0" err="1" smtClean="0"/>
              <a:t>router</a:t>
            </a:r>
            <a:r>
              <a:rPr lang="es-ES" dirty="0" smtClean="0"/>
              <a:t> en la barra de direcciones. Las direcciones más comunes son:</a:t>
            </a:r>
          </a:p>
          <a:p>
            <a:pPr lvl="2"/>
            <a:r>
              <a:rPr lang="es-ES" dirty="0" smtClean="0"/>
              <a:t>192.168.1.1</a:t>
            </a:r>
          </a:p>
          <a:p>
            <a:pPr lvl="2"/>
            <a:r>
              <a:rPr lang="es-ES" dirty="0" smtClean="0"/>
              <a:t>192.168.0.1</a:t>
            </a:r>
          </a:p>
          <a:p>
            <a:pPr lvl="2"/>
            <a:r>
              <a:rPr lang="es-ES" dirty="0" smtClean="0"/>
              <a:t>192.168.1.254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283190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Configurar un </a:t>
            </a:r>
            <a:r>
              <a:rPr lang="es-ES" dirty="0" err="1" smtClean="0"/>
              <a:t>router</a:t>
            </a:r>
            <a:r>
              <a:rPr lang="es-ES" dirty="0" smtClean="0"/>
              <a:t> </a:t>
            </a:r>
            <a:r>
              <a:rPr lang="es-ES" dirty="0" err="1" smtClean="0"/>
              <a:t>Wi</a:t>
            </a:r>
            <a:r>
              <a:rPr lang="es-ES" dirty="0" smtClean="0"/>
              <a:t>-Fi III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4000" b="1" dirty="0" smtClean="0"/>
              <a:t>Iniciar Sesión</a:t>
            </a:r>
            <a:r>
              <a:rPr lang="es-ES" sz="4000" dirty="0" smtClean="0"/>
              <a:t>: Ingresa las credenciales predeterminadas. Suelen ser algo como: </a:t>
            </a:r>
          </a:p>
          <a:p>
            <a:pPr lvl="1"/>
            <a:r>
              <a:rPr lang="es-ES" sz="2800" b="1" dirty="0" smtClean="0"/>
              <a:t>Usuario</a:t>
            </a:r>
            <a:r>
              <a:rPr lang="es-ES" sz="2800" dirty="0" smtClean="0"/>
              <a:t>: </a:t>
            </a:r>
            <a:r>
              <a:rPr lang="es-ES" sz="2800" dirty="0" err="1" smtClean="0"/>
              <a:t>admin</a:t>
            </a:r>
            <a:endParaRPr lang="es-ES" sz="2800" dirty="0" smtClean="0"/>
          </a:p>
          <a:p>
            <a:pPr lvl="1"/>
            <a:r>
              <a:rPr lang="es-ES" sz="2800" b="1" dirty="0" smtClean="0"/>
              <a:t>Contraseña</a:t>
            </a:r>
            <a:r>
              <a:rPr lang="es-ES" sz="2800" dirty="0" smtClean="0"/>
              <a:t>: </a:t>
            </a:r>
            <a:r>
              <a:rPr lang="es-ES" sz="2800" dirty="0" err="1" smtClean="0"/>
              <a:t>admin</a:t>
            </a:r>
            <a:r>
              <a:rPr lang="es-ES" sz="2800" dirty="0" smtClean="0"/>
              <a:t> o </a:t>
            </a:r>
            <a:r>
              <a:rPr lang="es-ES" sz="2800" dirty="0" err="1" smtClean="0"/>
              <a:t>password</a:t>
            </a:r>
            <a:r>
              <a:rPr lang="es-ES" sz="2800" dirty="0" smtClean="0"/>
              <a:t> (Revisa la etiqueta del </a:t>
            </a:r>
            <a:r>
              <a:rPr lang="es-ES" sz="2800" dirty="0" err="1" smtClean="0"/>
              <a:t>router</a:t>
            </a:r>
            <a:r>
              <a:rPr lang="es-ES" sz="2800" dirty="0" smtClean="0"/>
              <a:t> o el manual para las credenciales específicas).</a:t>
            </a:r>
          </a:p>
          <a:p>
            <a:endParaRPr lang="es-AR" sz="4000" dirty="0"/>
          </a:p>
        </p:txBody>
      </p:sp>
    </p:spTree>
    <p:extLst>
      <p:ext uri="{BB962C8B-B14F-4D97-AF65-F5344CB8AC3E}">
        <p14:creationId xmlns:p14="http://schemas.microsoft.com/office/powerpoint/2010/main" val="2614516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340768"/>
          </a:xfrm>
        </p:spPr>
        <p:txBody>
          <a:bodyPr/>
          <a:lstStyle/>
          <a:p>
            <a:r>
              <a:rPr lang="es-ES" sz="4400" dirty="0" smtClean="0"/>
              <a:t>Configurar un </a:t>
            </a:r>
            <a:r>
              <a:rPr lang="es-ES" sz="4400" dirty="0" err="1" smtClean="0"/>
              <a:t>router</a:t>
            </a:r>
            <a:r>
              <a:rPr lang="es-ES" sz="4400" dirty="0" smtClean="0"/>
              <a:t> </a:t>
            </a:r>
            <a:r>
              <a:rPr lang="es-ES" sz="4400" dirty="0" err="1" smtClean="0"/>
              <a:t>Wi</a:t>
            </a:r>
            <a:r>
              <a:rPr lang="es-ES" sz="4400" dirty="0" smtClean="0"/>
              <a:t>-Fi IV</a:t>
            </a:r>
            <a:endParaRPr lang="es-AR" sz="44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ES" b="1" dirty="0" smtClean="0"/>
              <a:t>Buscar la Sección de Configuración de </a:t>
            </a:r>
            <a:r>
              <a:rPr lang="es-ES" b="1" dirty="0" err="1" smtClean="0"/>
              <a:t>Wi</a:t>
            </a:r>
            <a:r>
              <a:rPr lang="es-ES" b="1" dirty="0" smtClean="0"/>
              <a:t>-Fi</a:t>
            </a:r>
            <a:r>
              <a:rPr lang="es-ES" dirty="0" smtClean="0"/>
              <a:t>: Navega a la sección que puede llamarse "</a:t>
            </a:r>
            <a:r>
              <a:rPr lang="es-ES" dirty="0" err="1" smtClean="0"/>
              <a:t>Wireless</a:t>
            </a:r>
            <a:r>
              <a:rPr lang="es-ES" dirty="0" smtClean="0"/>
              <a:t>", "</a:t>
            </a:r>
            <a:r>
              <a:rPr lang="es-ES" dirty="0" err="1" smtClean="0"/>
              <a:t>Wi</a:t>
            </a:r>
            <a:r>
              <a:rPr lang="es-ES" dirty="0" smtClean="0"/>
              <a:t>-Fi" o "Red Inalámbrica".</a:t>
            </a:r>
          </a:p>
          <a:p>
            <a:r>
              <a:rPr lang="es-ES" b="1" dirty="0" smtClean="0"/>
              <a:t>Configurar el SSID</a:t>
            </a:r>
            <a:r>
              <a:rPr lang="es-ES" dirty="0" smtClean="0"/>
              <a:t>: Cambia el nombre de la red (SSID) a uno que prefieras. Esto es lo que verán otros dispositivos al buscar redes disponibles.</a:t>
            </a:r>
          </a:p>
          <a:p>
            <a:r>
              <a:rPr lang="es-ES" b="1" dirty="0" smtClean="0"/>
              <a:t>Elegir la Seguridad</a:t>
            </a:r>
            <a:r>
              <a:rPr lang="es-ES" dirty="0" smtClean="0"/>
              <a:t>: Selecciona el tipo de seguridad. Se recomienda usar WPA2 o WPA3 si está disponible.</a:t>
            </a:r>
          </a:p>
          <a:p>
            <a:r>
              <a:rPr lang="es-ES" b="1" dirty="0" smtClean="0"/>
              <a:t>Establecer una Contraseña</a:t>
            </a:r>
            <a:r>
              <a:rPr lang="es-ES" dirty="0" smtClean="0"/>
              <a:t>: Crea una contraseña fuerte para proteger tu red. Evita usar información personal.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782951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800" dirty="0" smtClean="0"/>
              <a:t>Configurar un </a:t>
            </a:r>
            <a:r>
              <a:rPr lang="es-ES" sz="4800" dirty="0" err="1" smtClean="0"/>
              <a:t>router</a:t>
            </a:r>
            <a:r>
              <a:rPr lang="es-ES" sz="4800" dirty="0" smtClean="0"/>
              <a:t> </a:t>
            </a:r>
            <a:r>
              <a:rPr lang="es-ES" sz="4800" dirty="0" err="1" smtClean="0"/>
              <a:t>Wi</a:t>
            </a:r>
            <a:r>
              <a:rPr lang="es-ES" sz="4800" dirty="0" smtClean="0"/>
              <a:t>-Fi V</a:t>
            </a:r>
            <a:endParaRPr lang="es-AR" sz="48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ES" sz="3600" b="1" dirty="0" smtClean="0"/>
              <a:t>Configuraciones Adicionales</a:t>
            </a:r>
          </a:p>
          <a:p>
            <a:pPr lvl="1"/>
            <a:r>
              <a:rPr lang="es-ES" sz="2400" b="1" dirty="0" smtClean="0"/>
              <a:t>Actualizar el Firmware</a:t>
            </a:r>
            <a:r>
              <a:rPr lang="es-ES" sz="2400" dirty="0" smtClean="0"/>
              <a:t>: Busca en la sección de administración o actualización del firmware para asegurarte de que el </a:t>
            </a:r>
            <a:r>
              <a:rPr lang="es-ES" sz="2400" dirty="0" err="1" smtClean="0"/>
              <a:t>router</a:t>
            </a:r>
            <a:r>
              <a:rPr lang="es-ES" sz="2400" dirty="0" smtClean="0"/>
              <a:t> esté ejecutando la última versión.</a:t>
            </a:r>
          </a:p>
          <a:p>
            <a:pPr lvl="1"/>
            <a:r>
              <a:rPr lang="es-ES" sz="2400" b="1" dirty="0" smtClean="0"/>
              <a:t>Configurar la Dirección IP</a:t>
            </a:r>
            <a:r>
              <a:rPr lang="es-ES" sz="2400" dirty="0" smtClean="0"/>
              <a:t>: Si deseas, puedes cambiar la configuración de la dirección IP del </a:t>
            </a:r>
            <a:r>
              <a:rPr lang="es-ES" sz="2400" dirty="0" err="1" smtClean="0"/>
              <a:t>router</a:t>
            </a:r>
            <a:r>
              <a:rPr lang="es-ES" sz="2400" dirty="0" smtClean="0"/>
              <a:t> (opcional, generalmente se deja en automático).</a:t>
            </a:r>
          </a:p>
          <a:p>
            <a:pPr lvl="1"/>
            <a:r>
              <a:rPr lang="es-ES" sz="2400" b="1" dirty="0" smtClean="0"/>
              <a:t>Activar </a:t>
            </a:r>
            <a:r>
              <a:rPr lang="es-ES" sz="2400" b="1" dirty="0" err="1" smtClean="0"/>
              <a:t>QoS</a:t>
            </a:r>
            <a:r>
              <a:rPr lang="es-ES" sz="2400" b="1" dirty="0" smtClean="0"/>
              <a:t> (Calidad de Servicio)</a:t>
            </a:r>
            <a:r>
              <a:rPr lang="es-ES" sz="2400" dirty="0" smtClean="0"/>
              <a:t>: Si tu </a:t>
            </a:r>
            <a:r>
              <a:rPr lang="es-ES" sz="2400" dirty="0" err="1" smtClean="0"/>
              <a:t>router</a:t>
            </a:r>
            <a:r>
              <a:rPr lang="es-ES" sz="2400" dirty="0" smtClean="0"/>
              <a:t> lo permite, activa </a:t>
            </a:r>
            <a:r>
              <a:rPr lang="es-ES" sz="2400" dirty="0" err="1" smtClean="0"/>
              <a:t>QoS</a:t>
            </a:r>
            <a:r>
              <a:rPr lang="es-ES" sz="2400" dirty="0" smtClean="0"/>
              <a:t> para priorizar el tráfico de ciertos dispositivos o aplicaciones.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173185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400" dirty="0" smtClean="0"/>
              <a:t>Configurar un </a:t>
            </a:r>
            <a:r>
              <a:rPr lang="es-ES" sz="4400" dirty="0" err="1" smtClean="0"/>
              <a:t>router</a:t>
            </a:r>
            <a:r>
              <a:rPr lang="es-ES" sz="4400" dirty="0" smtClean="0"/>
              <a:t> </a:t>
            </a:r>
            <a:r>
              <a:rPr lang="es-ES" sz="4400" dirty="0" err="1" smtClean="0"/>
              <a:t>Wi</a:t>
            </a:r>
            <a:r>
              <a:rPr lang="es-ES" sz="4400" dirty="0" smtClean="0"/>
              <a:t>-Fi VI</a:t>
            </a:r>
            <a:endParaRPr lang="es-AR" sz="44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3600" b="1" dirty="0" smtClean="0"/>
              <a:t>Guardar y Reiniciar</a:t>
            </a:r>
          </a:p>
          <a:p>
            <a:pPr lvl="1"/>
            <a:r>
              <a:rPr lang="es-ES" sz="2400" b="1" dirty="0" smtClean="0"/>
              <a:t>Guardar Cambios</a:t>
            </a:r>
            <a:r>
              <a:rPr lang="es-ES" sz="2400" dirty="0" smtClean="0"/>
              <a:t>: Después de realizar todas las configuraciones, asegúrate de guardar los cambios.</a:t>
            </a:r>
          </a:p>
          <a:p>
            <a:pPr lvl="1"/>
            <a:r>
              <a:rPr lang="es-ES" sz="2400" b="1" dirty="0" smtClean="0"/>
              <a:t>Reiniciar el </a:t>
            </a:r>
            <a:r>
              <a:rPr lang="es-ES" sz="2400" b="1" dirty="0" err="1" smtClean="0"/>
              <a:t>Router</a:t>
            </a:r>
            <a:r>
              <a:rPr lang="es-ES" sz="2400" dirty="0" smtClean="0"/>
              <a:t>: Algunos </a:t>
            </a:r>
            <a:r>
              <a:rPr lang="es-ES" sz="2400" dirty="0" err="1" smtClean="0"/>
              <a:t>routers</a:t>
            </a:r>
            <a:r>
              <a:rPr lang="es-ES" sz="2400" dirty="0" smtClean="0"/>
              <a:t> requieren un reinicio para aplicar los cambios. Esto suele ser automático, pero si no, busca la opción de reinicio.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321712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400" dirty="0" smtClean="0"/>
              <a:t>Configurar un </a:t>
            </a:r>
            <a:r>
              <a:rPr lang="es-ES" sz="4400" dirty="0" err="1" smtClean="0"/>
              <a:t>router</a:t>
            </a:r>
            <a:r>
              <a:rPr lang="es-ES" sz="4400" dirty="0" smtClean="0"/>
              <a:t> </a:t>
            </a:r>
            <a:r>
              <a:rPr lang="es-ES" sz="4400" dirty="0" err="1" smtClean="0"/>
              <a:t>Wi</a:t>
            </a:r>
            <a:r>
              <a:rPr lang="es-ES" sz="4400" dirty="0" smtClean="0"/>
              <a:t>-Fi VII</a:t>
            </a:r>
            <a:endParaRPr lang="es-AR" sz="44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ES" sz="3200" b="1" dirty="0" smtClean="0"/>
              <a:t>Conectar Dispositivos a la Nueva Red</a:t>
            </a:r>
          </a:p>
          <a:p>
            <a:pPr lvl="1"/>
            <a:r>
              <a:rPr lang="es-ES" sz="2000" b="1" dirty="0" smtClean="0"/>
              <a:t>Buscar la Red</a:t>
            </a:r>
            <a:r>
              <a:rPr lang="es-ES" sz="2000" dirty="0" smtClean="0"/>
              <a:t>: En tus dispositivos (teléfonos, computadoras, </a:t>
            </a:r>
            <a:r>
              <a:rPr lang="es-ES" sz="2000" dirty="0" err="1" smtClean="0"/>
              <a:t>tablets</a:t>
            </a:r>
            <a:r>
              <a:rPr lang="es-ES" sz="2000" dirty="0" smtClean="0"/>
              <a:t>), busca la nueva red </a:t>
            </a:r>
            <a:r>
              <a:rPr lang="es-ES" sz="2000" dirty="0" err="1" smtClean="0"/>
              <a:t>Wi</a:t>
            </a:r>
            <a:r>
              <a:rPr lang="es-ES" sz="2000" dirty="0" smtClean="0"/>
              <a:t>-Fi.</a:t>
            </a:r>
          </a:p>
          <a:p>
            <a:pPr lvl="1"/>
            <a:r>
              <a:rPr lang="es-ES" sz="2000" b="1" dirty="0" smtClean="0"/>
              <a:t>Conectarse</a:t>
            </a:r>
            <a:r>
              <a:rPr lang="es-ES" sz="2000" dirty="0" smtClean="0"/>
              <a:t>: Selecciona el SSID que configuraste e ingresa la contraseña.</a:t>
            </a:r>
          </a:p>
          <a:p>
            <a:pPr lvl="1"/>
            <a:r>
              <a:rPr lang="es-ES" sz="2000" b="1" dirty="0" smtClean="0"/>
              <a:t>Verificar la Conexión</a:t>
            </a:r>
          </a:p>
          <a:p>
            <a:pPr lvl="2"/>
            <a:r>
              <a:rPr lang="es-ES" sz="2000" b="1" dirty="0" smtClean="0"/>
              <a:t>Probar la Conexión</a:t>
            </a:r>
            <a:r>
              <a:rPr lang="es-ES" sz="2000" dirty="0" smtClean="0"/>
              <a:t>: Accede a Internet en tus dispositivos para asegurarte de que la configuración fue exitosa.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1198758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400" dirty="0" smtClean="0"/>
              <a:t>Configurar un </a:t>
            </a:r>
            <a:r>
              <a:rPr lang="es-ES" sz="4400" dirty="0" err="1" smtClean="0"/>
              <a:t>router</a:t>
            </a:r>
            <a:r>
              <a:rPr lang="es-ES" sz="4400" dirty="0" smtClean="0"/>
              <a:t> </a:t>
            </a:r>
            <a:r>
              <a:rPr lang="es-ES" sz="4400" dirty="0" err="1" smtClean="0"/>
              <a:t>Wi</a:t>
            </a:r>
            <a:r>
              <a:rPr lang="es-ES" sz="4400" dirty="0" smtClean="0"/>
              <a:t>-Fi VIII</a:t>
            </a:r>
            <a:endParaRPr lang="es-AR" sz="44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b="1" dirty="0" smtClean="0"/>
              <a:t>Consideraciones Finales</a:t>
            </a:r>
          </a:p>
          <a:p>
            <a:pPr lvl="1"/>
            <a:r>
              <a:rPr lang="es-ES" b="1" dirty="0" smtClean="0"/>
              <a:t>Documentar Cambios</a:t>
            </a:r>
            <a:r>
              <a:rPr lang="es-ES" dirty="0" smtClean="0"/>
              <a:t>: Anota las configuraciones importantes (como el SSID y la contraseña) para referencia futura.</a:t>
            </a:r>
          </a:p>
          <a:p>
            <a:pPr lvl="1"/>
            <a:r>
              <a:rPr lang="es-ES" b="1" dirty="0" smtClean="0"/>
              <a:t>Seguridad</a:t>
            </a:r>
            <a:r>
              <a:rPr lang="es-ES" dirty="0" smtClean="0"/>
              <a:t>: Cambia las credenciales de acceso al </a:t>
            </a:r>
            <a:r>
              <a:rPr lang="es-ES" dirty="0" err="1" smtClean="0"/>
              <a:t>router</a:t>
            </a:r>
            <a:r>
              <a:rPr lang="es-ES" dirty="0" smtClean="0"/>
              <a:t> si aún son las predeterminadas para mejorar la seguridad.</a:t>
            </a:r>
          </a:p>
          <a:p>
            <a:pPr lvl="1"/>
            <a:r>
              <a:rPr lang="es-ES" b="1" dirty="0" smtClean="0"/>
              <a:t>Restablecer a Configuración de Fábrica</a:t>
            </a:r>
            <a:r>
              <a:rPr lang="es-ES" dirty="0" smtClean="0"/>
              <a:t>: Si encuentras problemas, puedes restablecer el </a:t>
            </a:r>
            <a:r>
              <a:rPr lang="es-ES" dirty="0" err="1" smtClean="0"/>
              <a:t>router</a:t>
            </a:r>
            <a:r>
              <a:rPr lang="es-ES" dirty="0" smtClean="0"/>
              <a:t> a su configuración de fábrica (generalmente presionando un botón de reinicio en el dispositivo).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41670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Software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AR" b="1" dirty="0" err="1" smtClean="0"/>
              <a:t>Wireshark</a:t>
            </a:r>
            <a:endParaRPr lang="es-AR" b="1" dirty="0" smtClean="0"/>
          </a:p>
          <a:p>
            <a:pPr lvl="1"/>
            <a:r>
              <a:rPr lang="es-AR" b="1" dirty="0" smtClean="0"/>
              <a:t>Descripción</a:t>
            </a:r>
            <a:r>
              <a:rPr lang="es-AR" dirty="0" smtClean="0"/>
              <a:t>: Herramienta de análisis de protocolos de red que captura y analiza el tráfico en tiempo real.</a:t>
            </a:r>
          </a:p>
          <a:p>
            <a:pPr lvl="1"/>
            <a:r>
              <a:rPr lang="es-AR" b="1" dirty="0" smtClean="0"/>
              <a:t>Características</a:t>
            </a:r>
            <a:r>
              <a:rPr lang="es-AR" dirty="0" smtClean="0"/>
              <a:t>:</a:t>
            </a:r>
          </a:p>
          <a:p>
            <a:pPr lvl="2"/>
            <a:r>
              <a:rPr lang="es-AR" dirty="0" smtClean="0"/>
              <a:t>Soporte para cientos de protocolos.</a:t>
            </a:r>
          </a:p>
          <a:p>
            <a:pPr lvl="2"/>
            <a:r>
              <a:rPr lang="es-AR" dirty="0" smtClean="0"/>
              <a:t>Análisis detallado de paquetes.</a:t>
            </a:r>
          </a:p>
          <a:p>
            <a:pPr lvl="2"/>
            <a:r>
              <a:rPr lang="es-AR" dirty="0" smtClean="0"/>
              <a:t>Interfaz gráfica intuitiva.</a:t>
            </a:r>
          </a:p>
          <a:p>
            <a:r>
              <a:rPr lang="es-ES" b="1" dirty="0" smtClean="0"/>
              <a:t>Cisco </a:t>
            </a:r>
            <a:r>
              <a:rPr lang="es-ES" b="1" dirty="0" err="1" smtClean="0"/>
              <a:t>Packet</a:t>
            </a:r>
            <a:r>
              <a:rPr lang="es-ES" b="1" dirty="0" smtClean="0"/>
              <a:t> </a:t>
            </a:r>
            <a:r>
              <a:rPr lang="es-ES" b="1" dirty="0" err="1" smtClean="0"/>
              <a:t>Tracer</a:t>
            </a:r>
            <a:r>
              <a:rPr lang="es-ES" dirty="0" smtClean="0"/>
              <a:t> </a:t>
            </a:r>
          </a:p>
          <a:p>
            <a:pPr lvl="1"/>
            <a:r>
              <a:rPr lang="es-ES" dirty="0" err="1" smtClean="0"/>
              <a:t>Descripcion</a:t>
            </a:r>
            <a:r>
              <a:rPr lang="es-ES" dirty="0" smtClean="0"/>
              <a:t>: es una herramienta de simulación de redes desarrollada por Cisco, muy utilizada para aprender y practicar conceptos de redes y administración de dispositivos Cisco.</a:t>
            </a:r>
            <a:endParaRPr lang="es-AR" dirty="0" smtClean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746256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</TotalTime>
  <Words>3345</Words>
  <Application>Microsoft Office PowerPoint</Application>
  <PresentationFormat>Presentación en pantalla (4:3)</PresentationFormat>
  <Paragraphs>287</Paragraphs>
  <Slides>46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46</vt:i4>
      </vt:variant>
    </vt:vector>
  </HeadingPairs>
  <TitlesOfParts>
    <vt:vector size="47" baseType="lpstr">
      <vt:lpstr>Tema de Office</vt:lpstr>
      <vt:lpstr>Sistemas Digitales</vt:lpstr>
      <vt:lpstr>Concepto</vt:lpstr>
      <vt:lpstr>Elementos Clave del Concepto:</vt:lpstr>
      <vt:lpstr>Tipos de Redes</vt:lpstr>
      <vt:lpstr>Topología de Red</vt:lpstr>
      <vt:lpstr>Topología en Estrella</vt:lpstr>
      <vt:lpstr>Topología en Bus </vt:lpstr>
      <vt:lpstr>Topología en Anillo </vt:lpstr>
      <vt:lpstr>Topología en Malla </vt:lpstr>
      <vt:lpstr>Topología en Árbol </vt:lpstr>
      <vt:lpstr>Componentes</vt:lpstr>
      <vt:lpstr>Protocolos de Comunicación</vt:lpstr>
      <vt:lpstr>Dirección IP</vt:lpstr>
      <vt:lpstr>Tipos de Direcciones IP </vt:lpstr>
      <vt:lpstr>Tipos de Direcciones IP según su Asignación</vt:lpstr>
      <vt:lpstr>Asignación de Direcciones IP</vt:lpstr>
      <vt:lpstr>Clases de Direcciones IPv4</vt:lpstr>
      <vt:lpstr>Clase A B C</vt:lpstr>
      <vt:lpstr>Direcciones Especiales </vt:lpstr>
      <vt:lpstr>Comandos DOS redes I</vt:lpstr>
      <vt:lpstr>Comandos DOS redes II</vt:lpstr>
      <vt:lpstr>Cables de Red</vt:lpstr>
      <vt:lpstr>Cable Ethernet (Cable de Par Trenzado) </vt:lpstr>
      <vt:lpstr>Cable de Fibra Óptica </vt:lpstr>
      <vt:lpstr>Configuraciones de Conexión (T568A y T568B) </vt:lpstr>
      <vt:lpstr>Herramientas  para cable de cobre</vt:lpstr>
      <vt:lpstr>Fibra Óptica</vt:lpstr>
      <vt:lpstr>Redes inalámbricas</vt:lpstr>
      <vt:lpstr>Tipos de Redes Inalámbricas </vt:lpstr>
      <vt:lpstr>Estándares y Tecnologías Comunes </vt:lpstr>
      <vt:lpstr>Ventajas de las Redes Inalámbricas </vt:lpstr>
      <vt:lpstr>Desventajas de las Redes Inalámbricas</vt:lpstr>
      <vt:lpstr>Seguridad en Redes Inalámbricas</vt:lpstr>
      <vt:lpstr>Antenas</vt:lpstr>
      <vt:lpstr>Tipos</vt:lpstr>
      <vt:lpstr>Dispositivos Wifi</vt:lpstr>
      <vt:lpstr>Dispositivos Wifi I</vt:lpstr>
      <vt:lpstr>Configurar un router Wi-Fi I</vt:lpstr>
      <vt:lpstr>Configurar un router Wi-Fi II</vt:lpstr>
      <vt:lpstr>Configurar un router Wi-Fi III</vt:lpstr>
      <vt:lpstr>Configurar un router Wi-Fi IV</vt:lpstr>
      <vt:lpstr>Configurar un router Wi-Fi V</vt:lpstr>
      <vt:lpstr>Configurar un router Wi-Fi VI</vt:lpstr>
      <vt:lpstr>Configurar un router Wi-Fi VII</vt:lpstr>
      <vt:lpstr>Configurar un router Wi-Fi VIII</vt:lpstr>
      <vt:lpstr>Software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Digitales</dc:title>
  <dc:creator>pc1</dc:creator>
  <cp:lastModifiedBy>docente</cp:lastModifiedBy>
  <cp:revision>27</cp:revision>
  <dcterms:created xsi:type="dcterms:W3CDTF">2024-10-28T13:00:32Z</dcterms:created>
  <dcterms:modified xsi:type="dcterms:W3CDTF">2025-11-03T11:44:09Z</dcterms:modified>
</cp:coreProperties>
</file>